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666" autoAdjust="0"/>
  </p:normalViewPr>
  <p:slideViewPr>
    <p:cSldViewPr>
      <p:cViewPr varScale="1">
        <p:scale>
          <a:sx n="127" d="100"/>
          <a:sy n="127" d="100"/>
        </p:scale>
        <p:origin x="5322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FC745-6423-42EC-A6BF-206B66C7346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30538" y="644525"/>
            <a:ext cx="3082925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8088"/>
            <a:ext cx="7315200" cy="2028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5E291-E72A-4171-B9C4-6F8E47F39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6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Лекция 4. Углубленный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четвертое занятие курса, где изучается внутреннее устройство веб-приложений: от ввода URL до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отрисовки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пикселей на экране, от простых HTTP-запросов до сложных механизмов CORS и безопасности. Эта лекция критически важна для понимания того, как браузер и сервер взаимодействуют друг с другом.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412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 начинается с повторения базовых концепций из первой лекции. Указана ссылка на подробную статью о том, что происходит, когда пользователь набирает адрес сайта в браузере — рекомендуемое чтение для глубокого понимания процессов.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545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3: Базовый сценарий работы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-приложения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Жизненный цикл загрузки веб-страницы состоит из четырех ключевых этапов:​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Пользователь вводит URL — адрес ресурса в адресную строку браузера, например https://example.com/page.​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Браузер загружает страницу — HTML документ — браузер отправляет HTTP-запрос на сервер и получает HTML-файл, который является "скелетом" страницы.​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Браузер анализирует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парсит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HTML и загружает дополнительные ресурсы — браузер читает HTML построчно, находит ссылки на CSS,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изображения и другие ресурсы, затем отправляет дополнительные HTTP-запросы для их загрузки.​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 Браузер отображает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рендерит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HTML-страницу — после получения всех необходимых ресурсов браузер строит визуальное представление и показывает его пользователю.​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336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4: URL 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locator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Uniform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унифицированный указатель ресурса, стандартизированный адрес любого объекта в интернете.​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Разберем структуру на примере: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http://mi-ami.ru:8080/profile/account.html?gender=male&amp;age=13#comments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Компоненты URL:​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протокол передачи данных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HyperText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 Определяет правила обмена информацией. Также существует HTTPS — защищенная версия.​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mi-ami.ru — доменное имя (DNS-имя сервера).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Человекочитаемый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адрес, который преобразуется в IP-адрес через DNS.​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8080 — TCP-порт. Номер виртуального канала для связи с конкретным приложением на сервере. По умолчанию HTTP использует порт 80, HTTPS — 443.​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/account.html — путь до документа на сервере. Показывает местоположение файла в файловой системе сервера.​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gender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male&amp;age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=13 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-параметры (параметры запроса). Передают дополнительные данные серверу. Начинаются с ?, разделяются символом &amp;.​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якорь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Указывает на конкретную секцию внутри страницы. Браузер автоматически прокрутит к элементу с соответствующим ID.​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222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5: Документы — MIME-типы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 — это тело ответа HTTP-запроса, содержимое, которое сервер отправляет клиенту. Каждый документ имеет MIME-тип 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Multipurpose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Internet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Extensions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 который сообщает браузеру, как интерпретировать данные.​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MIME-типы:​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HTML-документы, основа веб-страниц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файлы стилей для оформления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-файлы для интерактивности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изображения в формате PNG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/mp4 — видеофайлы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так далее... — существуют сотни типов для различных форматов данных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537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6: Документы — статические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динамические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способу формирования документы делятся на два типа:​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Статические документы:​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Готовые файлы, лежащие на диске сервера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Зачастую имеют постоянный адрес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логотип компании, PDF-документация, иконки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Динамические документы:​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Создаются на каждый запрос заново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Содержимое зависит от внешних факторов: данных пользователя, текущего времени, информации из базы данных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Адрес может меняться или оставаться постоянным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Пример: лента новостей, результаты поиска, личный кабинет пользователя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659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7: Ресурсы — подключение 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 подключения различных ресурсов в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&lt;link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="stylesheet"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/index.css"&gt; &lt;script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="http://code.jquery.com/jquery-2.1.4.js"&gt;&lt;/script&gt; &lt;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="pictures/network.png" width="200"&gt;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Построчно: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1: Подключение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файла через тег &lt;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link&gt;.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Атрибут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="stylesheet"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тип связи,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путь к файлу.​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2: Подключение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библиотеки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jQuery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CDN.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Атрибут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на удаленный файл.​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 3: Вставка изображения через тег &lt;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Атрибут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путь к файлу,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ширина отображения.​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Каждое такое подключение вызывает отдельный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 к серверу.​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155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8: Ресурсы — подключение 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 могут подключаться не только из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и из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CSS:​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.slide { background-image: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(../pictures/network.png) } @font-face { font-family: Terminus;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(fonts/terminus.ttf); }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Объяснение: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Строки 1–3: Установка фонового изображения для элементов с классом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Путь ../ означает подъем на один уровень вверх по структуре папок.​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Строки 5–8: Подключение пользовательского шрифта через @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font-face. font-family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задает имя шрифта,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путь к файлу шрифта.​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Браузер автоматически загружает эти ресурсы при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парсинге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CSS.​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949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 9: Протоколы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Существует множество сетевых протоколов — наборов правил для обмена данными.​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Самые распространенные:​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Transmission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протокол транспортного уровня, обеспечивающий надежную доставку данных с гарантией порядка пакетов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 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Datagram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более быстрый, но менее надежный протокол без гарантий доставки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HyperText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работает поверх TCP, предназначен для передачи гипертекста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FTP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 протокол для передачи файлов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SSH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защищенный протокол для удаленного управления серверами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91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 10: HTTP 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HyperText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 HTTP — технология «клиент-сервер»: всегда есть клиент (браузер), который посылает запрос, и сервер, который получает запрос и отдает нужный ответ.​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История развития: изначально HTTP использовался исключительно для передачи HTML, но вскоре был расширен при помощи MIME-типов, что позволило передавать любые данные.​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Вывод: каждый запрос браузера за ресурсами (изображения, стили, скрипты) — это отдельный HTTP-запрос.​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451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 11: Структура HTTP-запроса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Каждое HTTP-сообщение, отправляемое клиентом, состоит из четырех компонентов:​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Метод — тип операции (GET, POST, PUT, DELETE и т.д.)​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URL запроса — адрес ресурса​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Заголовки — характеризуют тело сообщения, параметры передачи и прочие сведения. Примеры: тип контента, язык, информация о браузере, аутентификация.​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Тело — данные запроса. Может отсутствовать (например, в GET-запросах).​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444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12: Структура HTTP-ответа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 сервера также состоит из заголовков и тела, плюс добавляется статус ответа.​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Пять категорий статусов:​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1xx — информативный статус (запрос получен, продолжаем обработку)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2xx — успешный статус (запрос выполнен успешно, например 200 OK)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3xx — перенаправление (ресурс перемещен, клиент должен обратиться по другому адресу)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4xx — клиентская ошибка (проблема в запросе клиента, например 404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5xx — ошибка сервера (проблема на стороне сервера, например 500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594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13: Пример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Реальный пример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запроса в текстовом виде:​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 http://www.ru/robots.txt HTTP/1.0 Accept: text/html, text/plain User-Agent: curl/7.64.1 If-Modified-Since: Fri, 24 Jul 2015 22:53:05 GMT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1: Стартовая строка с методом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GET, URL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версией протокола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HTTP/1.0​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2: Заголовок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указывает, какие типы контента клиент готов принять​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 3: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User-Agent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идентифицирует клиента (в данном случае утилиту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curl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версии 7.64.1)​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4: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If-Modified-Since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спрашивает сервер, был ли файл изменен после указанной даты (для кеширования)​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180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14: Пример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Реальный пример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ответа:​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HTTP/1.1 404 Not Found Server: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/1.5.7 Date: Sat, 25 Jul 2015 09:58:17 GMT Content-Type: text/html; charset=iso-8859-1 Connection: close &lt;!DOCTYPE HTML PUBLIC "-//IETF//DTD HTML 2.0//EN"&gt; &lt;HTML&gt;&lt;HEAD&gt;...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1: Версия протокола и статус 404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Found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запрашиваемый ресурс не найден​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2: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на веб-сервер (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версии 1.5.7)​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3: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дата и время ответа сервера​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4: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Content-Type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 содержимого (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HTML)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кодировка​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Строка 5: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Connection: close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соединение будет закрыто после ответа​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Строки 7+: Тело ответа с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кодом страницы ошибки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568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15: "Пользователь вводит ссылку в браузер..."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Начинается детальный разбор того, что происходит после ввода URL. Указана ссылка на подробную статью для дополнительного изучения.​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047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16: Ну, вводи уже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Визуальный слайд с изображением, иллюстрирующий момент ввода URL пользователем. Психологическая подготовка к детальному разбору процесса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442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17: Поиск сервера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Работу сайта обеспечивает сервер, у которого есть IP-адрес.​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Проблема: браузер получает доменное имя (например, google.com), но для установки соединения нужен числовой IP-адрес (например, 142.250.185.46).​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 информация о соответствии доменных имен и IP-адресов хранится в распределенной системе DNS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Система работает как глобальная "контактная книга", распределенная по серверам и устройствам в интернете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847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18: Оптимизация поиска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Браузер не сразу обращается к DNS-серверу, сначала проверяет ближайшие места для экономии времени:​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Порядок поиска IP-адреса:​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История подключений — если пользователь уже посещал сайт, адрес может быть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кеше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браузера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Кеш операционной системы — возможно, какие-то приложения уже обращались к этому сайту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Кеш роутера — домашний роутер может хранить записи DNS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Кеш провайдера 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интернет-провайдер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ведет свой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кеш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DNS-записей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DNS-сервер — если нигде не найдено, запрос идет к авторитетному DNS-серверу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многоуровневое кеширование значительно ускоряет загрузку часто посещаемых сайтов.​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022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19: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 — иерархия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имеет иерархическую структуру:​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Корневые серверы ↓ .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 .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.com .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домены верхнего уровня) ↓ ↓ ↓ ↓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apple.com vc.ru vscale.io ya.ru ↓ ↓ store.apple.com mail.vc.ru taxi.ya.ru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это работает: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 запрос идет к корневому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серверу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Корневой сервер направляет к серверу зоны .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 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другой)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 зоны направляет к серверу конкретного домена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google.com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Авторитетный сервер домена возвращает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адрес​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377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лайд 20: Устанавливается соединение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только браузер узнал IP-адрес сервера, он пытается установить соединение. В большинстве случаев используется протокол TCP.​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установления TCP-соединения используется система трех рукопожатий 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three-way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handshake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799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21: Тройное рукопожатие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Three-Way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Handshake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 установления TCP-соединения:​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SYN-пакет — устройство пользователя отправляет специальный запрос на установку соединения с сервером, называется SYN-пакет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SYNchronize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SYN/ACK-пакет — сервер в ответ отправляет запрос с подтверждением получения SYN-пакета, называется SYN/ACK-пакет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SYNchronize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ACKnowledge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ACK-пакет — устройство пользователя при получении SYN/ACK-пакета отправляет пакет с подтверждением ACK-пакет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ACKnowledge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этот момент соединение считается установленным и можно передавать данные.​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Аналогия: это как телефонный разговор — "Алло?" — "Алло, слышу!" — "Отлично, начинаем разговор".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0981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22: Остальные шаги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установления соединения происходит обмен данными:​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Браузер отправляет HTTP-запрос по установленному TCP-соединению.​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Сервер получает запрос и обрабатывает его — выполняется бизнес-логика, рендеринг шаблонов,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проксирование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Сервер отправляет ответ браузеру — это может быть любой ресурс (HTML, JSON, изображение, файл).​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Браузер обрабатывает полученный ответ и "рисует" веб-страницу.​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9182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23: Как происходит рендер (кратко)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 рендеринга:​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 браузер загружает только основную структуру HTML-страницы. Затем последовательно проверяет все теги и отправляет дополнительные GET-запросы для получения различных элементов — картинки, файлы, скрипты, таблицы стилей.​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по мере загрузки страницы браузер и сервер продолжают обмениваться информацией. Как только рендеринг завершен — пользователю отображается полностью загруженная страница.​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4292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24: Критические этапы рендера — введение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 о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критическом пути рендеринга. Это последовательность шагов, которые браузер выполняет для преобразования HTML, CSS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пиксели на экране.​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Указана ссылка на MDN для подробного изучения.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92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25: Критические этапы рендера — определение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(Критический путь рендеринга) — последовательность шагов, которые выполняет браузер при преобразовании HTML, CSS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пиксели на экране.​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Шесть этапов:​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Загрузка HTML — получение HTML-документа с сервера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 — построение объектной модели документа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CSSOM — построение объектной модели стилей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Дерево рендера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комбинация DOM и CSSOM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Компоновка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вычисление положения и размеров элементов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Отрисовка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фактическая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отрисовка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пикселей на экране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4322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26: Критические этапы рендера (базово)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Подробное описание процесса:​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Парсинг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HTML и построение DOM: браузер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парсит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загружаемый HTML, преобразуя байты в DOM-дерево. Браузер создает новый запрос каждый раз, когда находит ссылки на внешние ресурсы (стили, скрипты, изображения).​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Продолжение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парсинга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браузер продолжает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парсить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HTML и создавать DOM до тех пор, пока не получит весь HTML-документ.​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Построение CSSOM: после завершения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парсинга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DOM браузер конструирует CSS-модель.​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Построение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как только DOM и CSSOM сформированы, браузер строит дерево рендера, в котором вычисляет стили для каждого видимого элемента.​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после формирования дерева происходит компоновка, которая определяет положение и размеры элементов.​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как только этап завершён, страница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рендерится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("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отрисовывается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 на экране.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75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27: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 — Document Object Model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 (Document Object Model)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объектная модель документа.​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Построение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инкрементально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 превращается в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(лексемы)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превращаются в узлы (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nodes)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Узлы формируют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дерево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Структура узла: каждый узел начинается с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startTag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заканчивается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endTag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Узлы содержат всю необходимую информацию об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элементе.​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Иерархия: если набор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startTag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endTag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появляется между уже существующим набором, получается узел внутри узла — иерархия дерева.​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Визуальное представление: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├── head │ ├── meta │ ├── title │ └── link └── body ├── div │ ├── h1 ("Hey") │ └── p ("Lorem") ├── div │ └── span ("Ipsum") └── footer 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1689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28: CSSOM — CSS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CSSOM (CSS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объектная модель стилей.​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Отличия от DOM:​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 несет содержимое страницы, CSSOM — стили для этого содержимого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 строится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инкрементально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CSSOM — нет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 блокирует рендер: браузер блокирует рендеринг страницы до тех пор, пока не получит и не обработает все CSS-правила​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CSS блокирует рендер? Потому что правила могут быть перезаписаны, и необходимо дождаться построения всего CSSOM, чтобы убедиться в отсутствии дополнительных переопределений.​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Вывод: если CSS загружается медленно, вся страница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рендерится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медленно.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6453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29: Дерево рендера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дерево рендера, место где DOM и CSSOM комбинируются в одно дерево.​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 построения:​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построения дерева рендера браузер проверяет каждый узел DOM, начиная от корневого, и определяет, какие CSS-правила нужно присоединить к этому узлу.​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Важно: дерево рендера охватывает только видимое содержимое:​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Секция &lt;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обычно не включается, так как не содержит видимой информации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Элементы с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 включаются в дерево рендера (как и их потомки)​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 дерево, содержащее только те элементы, которые будут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отрисованы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присоединенными к ним финальными стилями.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4041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30: Компоновка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рекурсивный процесс определения положения и размеров элементов из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работает:​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Начинается от корневого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(элемент &lt;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Проходит рекурсивно вниз по всей иерархии дерева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Высчитывает геометрические размеры каждого дочернего элемента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Начальные условия: корневой элемент имеет позицию (0,0) и размеры, равные размерам видимой части окна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viewport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 к концу процесса каждый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имеет свое положение и размеры.​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Промежуточный итог: браузер знает что, как и где рисовать. Следовательно, осталось только нарисовать.​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9225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последний этап в критическом пути рендеринга.​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дерево рендера создано и компоновка произошла, пиксели могут быть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отрисованы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экране. При первичной загрузке документа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onload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весь экран будет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отрисован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Оптимизация: после этого будут перерисовываться только необходимые к обновлению части экрана, так как браузер старается оптимизировать процесс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отрисовки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избегая ненужной работы. Если в документе есть два элемента, перерисовываться будет только тот, который изменился.​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Вывод: понимание этапов рендеринга позволяет оптимизировать производительность веб-приложений,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минимизируя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дорогостоящие операции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3579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 32: Клиент-серверная модель — введение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Переход к разделу о клиент-серверной архитектуре. Указана ссылка на статью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 дополнительного изучения.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18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33: Клиент-сервер — определение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Клиент-серверная модель — вычислительная или сетевая архитектура, в которой задания или сетевая нагрузка распределены между поставщиками услуг, называемыми серверами, и заказчиками услуг, называемыми клиентами.​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принципы: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 инициирует запросы и потребляет ресурсы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 предоставляет ресурсы и обрабатывает запросы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Разделение ответственности позволяет масштабировать систему независимо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9011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34: Клиент-сервер — визуализация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Визуальная схема, показывающая взаимодействие между клиентами (PC,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Smartphone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Laptop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сервером через сеть. Все клиенты отправляют запросы централизованному серверу, который обрабатывает их и возвращает ответы.​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7297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 35: История веб-приложений — введение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 о эволюции веб-приложений от статических страниц до современных SPA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 Понимание этой эволюции важно для выбора правильной архитектуры проекта.​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4499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36: Статические веб-страницы — схема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Визуальная схема первого поколения веб-приложений:​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 → Page Request → Internet → Web Server Browser ← HTML page ← Internet ← Web Server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 запрашивает страницу, сервер отдает готовый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 без какой-либо обработки.​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5341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37: Статические веб-страницы — характеристики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Отображение статических HTML-страниц (HTML, CSS)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Контент на страницах, переходы по гиперссылкам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 статических документов и отдача по запросу по протоколу HTTP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Ограничения: нет интерактивности, нет персонализации, весь контент одинаков для всех пользователей.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642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38: Динамические веб-сервисы — схема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Второе поколение веб-приложений с серверной генерацией страниц:​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app in Browser → Request → Internet → API Web Server → Database Web app in Browser ← Response ← Internet ← API Web Server ← Database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 генерирует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динамически на основе данных из базы.​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8655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39: Динамические веб-сервисы — характеристики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Отображение статических HTML-страниц (HTML, CSS)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Контент на страницах, переходы по гиперссылкам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Взаимодействие с сервисом посредством форм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 статических документов и отдача по запросу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Обработка пользовательских запросов и генерация динамических страниц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 данных в базе данных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Примеры: ранние версии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Facebook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форумы, блоги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WordPress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1885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40: Веб-приложения (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SPA) 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схема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Третье поколение: современные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Page Applications:​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 → load INDEX.HTML → load MYCLIENT.JS → API Request (HTTP GET) → Internet → API (MYAPI.JS Node/Express) → Raspberry Pi SERVER Browser ← API Response (JSON) ← CLIENT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Логика приложения переносится на клиент, сервер предоставляет только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API.​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438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41: Веб-приложения (SPA) — характеристики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 и доступ к статическому контенту (файлы стилей, скрипты)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Генерация и отображение пользовательского интерфейса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Взаимодействие с пользователем и выполнение запросов к API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Обновление пользовательского интерфейса в ответ на действия пользователя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Реализация публичного API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 данных в базе данных и работа с ними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Примеры: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Gmail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современные версии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Twitter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/X,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приложения.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2762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42: Эволюция моделей — временная шкала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Визуальное сравнение трех моделей веб-приложений:​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(1990) — полная перезагрузка страницы при каждом действии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2: AJAX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(2006) — асинхронные запросы без перезагрузки страницы</a:t>
            </a:r>
          </a:p>
          <a:p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3: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Client-side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MV (2012)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— полноценные клиентские приложения 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роутингом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состоянием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87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43: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&amp;&amp;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введение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 о Node.js и менеджере пакетов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Указана ссылка на официальную документацию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nodejs.dev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6249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44: Что находится внутри браузера?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Провокационный слайд с вопросом о внутреннем устройстве браузера.​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2195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45: Что находится внутри браузера? — НЕ ЗНАЮ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Юмористический слайд, демонстрирующий сложность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браузерной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архитектуры.​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0605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46: Что находится внутри браузера? — процессы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Многопроцессная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архитектура современного браузера:​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главный процесс, управляет UI и другими процессами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отрисовка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веб-страниц, изолирован для безопасности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обработка сетевых запросов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аппаратное ускорение графики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управление хранилищем данных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отрисовка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интерфейса браузера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Plugin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изолированное выполнение плагинов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работа с устройствами (камера, микрофон)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процесс изолирован для повышения безопасности и стабильности.​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2601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47: Ограничения JS в браузере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ограничения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браузере:​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Нельзя взаимодействовать с файловой системой — безопасность пользователя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доступа к сетевым функциям, кроме того, что предоставляет браузер (HTTP-запросы)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возможности организовывать многопоточные вычисления — есть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с ограничениями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Нельзя создавать новые процессы / запускать программы — открытие новых вкладок не считается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ограничения защищают пользователя от вредоносного кода.​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7656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48: Node.js — определение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 — исполнение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кода НЕ в браузере.​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Программная платформа, основанная на движке V8, превращающая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 узкоспециализированного языка в язык общего назначения.​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Возможности Node.js:​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Взаимодействие с устройствами ввода-вывода через API на C++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Подключение внешних библиотек на разных языках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Обеспечение вызовов к ним из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-кода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Применение: серверная разработка, CLI-утилиты,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десктопные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приложения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02788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49: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Manager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менеджер пакетов, входящий в состав Node.js.​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 состоит из двух частей:​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 CLI 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command-line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для публикации и загрузки пакетов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Онлайн-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котором размещаются пакеты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момент 2025 года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содержит более 2 миллионов пакетов — крупнейший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мире.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7322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50: Как подключить библиотеки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 основных способа подключения библиотек:​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Вариант с CDN — подключение через ссылку на внешний сервер: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="https://cdn.jsdelivr.net/npm/bootstrap@5.3.0/dist/js/bootstrap.bundle.min.js"&gt;&lt;/script&gt;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Вариант 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установка локально через менеджер пакетов и импорт в код.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1571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51: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работает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 работы с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Скачиваем зависимости: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bash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install bootstrap 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Появляется директория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 всеми зависимостями пакета.​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Подключаем нужный пакет в коде: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 ... }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'bootstrap'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07640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 52: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юмор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Юмористический слайд о размере папки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:​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САМЫЕ ТЯЖЕЛЫЕ ОБЪЕКТЫ ВО ВСЕЛЕННОЙ: - СОЛНЦЕ - НЕЙТРОННАЯ ЗВЕЗДА - ЧЕРНАЯ ДЫРА - ТВОЯ ПАПКА NODE_MODULES 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действительно может содержать тысячи файлов и занимать гигабайты места из-за транзитивных зависимостей.</a:t>
            </a:r>
          </a:p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5E291-E72A-4171-B9C4-6F8E47F39DC9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507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9119" y="2072819"/>
            <a:ext cx="7185761" cy="1151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550" y="515238"/>
            <a:ext cx="8169909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0550" y="1202030"/>
            <a:ext cx="7777480" cy="3331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i-ami.ru:8080/profile/account.html?gender=male&amp;age=13&amp;commen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://site.com/my/page.html" TargetMode="External"/><Relationship Id="rId2" Type="http://schemas.openxmlformats.org/officeDocument/2006/relationships/hyperlink" Target="http://site.com/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te.com/" TargetMode="External"/><Relationship Id="rId2" Type="http://schemas.openxmlformats.org/officeDocument/2006/relationships/hyperlink" Target="http://sit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site.com:8080/" TargetMode="External"/><Relationship Id="rId4" Type="http://schemas.openxmlformats.org/officeDocument/2006/relationships/hyperlink" Target="http://site.org/" TargetMode="Externa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script.info/page" TargetMode="External"/><Relationship Id="rId2" Type="http://schemas.openxmlformats.org/officeDocument/2006/relationships/hyperlink" Target="https://anywhere.com/reques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script.info/page" TargetMode="External"/><Relationship Id="rId2" Type="http://schemas.openxmlformats.org/officeDocument/2006/relationships/hyperlink" Target="https://site.com/service.jso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86810" y="1883486"/>
            <a:ext cx="2771775" cy="8197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200" spc="-20" dirty="0">
                <a:latin typeface="Tahoma"/>
                <a:cs typeface="Tahoma"/>
              </a:rPr>
              <a:t>Лекция</a:t>
            </a:r>
            <a:r>
              <a:rPr sz="5200" spc="-355" dirty="0">
                <a:latin typeface="Tahoma"/>
                <a:cs typeface="Tahoma"/>
              </a:rPr>
              <a:t> </a:t>
            </a:r>
            <a:r>
              <a:rPr sz="5200" spc="5" dirty="0">
                <a:latin typeface="Tahoma"/>
                <a:cs typeface="Tahoma"/>
              </a:rPr>
              <a:t>4</a:t>
            </a:r>
            <a:endParaRPr sz="5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0126" y="2902711"/>
            <a:ext cx="30645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585858"/>
                </a:solidFill>
                <a:latin typeface="Tahoma"/>
                <a:cs typeface="Tahoma"/>
              </a:rPr>
              <a:t>Углубленный</a:t>
            </a:r>
            <a:r>
              <a:rPr sz="2800" spc="200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585858"/>
                </a:solidFill>
                <a:latin typeface="Tahoma"/>
                <a:cs typeface="Tahoma"/>
              </a:rPr>
              <a:t>Web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8855" y="2273884"/>
            <a:ext cx="5606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Повторение</a:t>
            </a:r>
            <a:r>
              <a:rPr sz="3600" spc="-65" dirty="0"/>
              <a:t> </a:t>
            </a:r>
            <a:r>
              <a:rPr sz="3600" dirty="0"/>
              <a:t>-</a:t>
            </a:r>
            <a:r>
              <a:rPr sz="3600" spc="-70" dirty="0"/>
              <a:t> </a:t>
            </a:r>
            <a:r>
              <a:rPr sz="3600" spc="65" dirty="0"/>
              <a:t>мать</a:t>
            </a:r>
            <a:r>
              <a:rPr sz="3600" spc="-70" dirty="0"/>
              <a:t> </a:t>
            </a:r>
            <a:r>
              <a:rPr sz="3600" spc="-10" dirty="0"/>
              <a:t>учения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27431" y="2888498"/>
            <a:ext cx="8288655" cy="5505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500" dirty="0">
                <a:solidFill>
                  <a:srgbClr val="585858"/>
                </a:solidFill>
                <a:latin typeface="Tahoma"/>
                <a:cs typeface="Tahoma"/>
              </a:rPr>
              <a:t>Подробнее</a:t>
            </a:r>
            <a:r>
              <a:rPr sz="1500" spc="170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585858"/>
                </a:solidFill>
                <a:latin typeface="Tahoma"/>
                <a:cs typeface="Tahoma"/>
              </a:rPr>
              <a:t>тут</a:t>
            </a:r>
            <a:r>
              <a:rPr sz="1500" spc="265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585858"/>
                </a:solidFill>
                <a:latin typeface="Tahoma"/>
                <a:cs typeface="Tahoma"/>
              </a:rPr>
              <a:t>https://vc.ru/selectel/76371-</a:t>
            </a:r>
            <a:r>
              <a:rPr sz="1500" spc="-25" dirty="0">
                <a:solidFill>
                  <a:srgbClr val="585858"/>
                </a:solidFill>
                <a:latin typeface="Tahoma"/>
                <a:cs typeface="Tahoma"/>
              </a:rPr>
              <a:t>chto-</a:t>
            </a:r>
            <a:r>
              <a:rPr sz="1500" spc="-10" dirty="0">
                <a:solidFill>
                  <a:srgbClr val="585858"/>
                </a:solidFill>
                <a:latin typeface="Tahoma"/>
                <a:cs typeface="Tahoma"/>
              </a:rPr>
              <a:t>proishodit-</a:t>
            </a:r>
            <a:r>
              <a:rPr sz="1500" dirty="0">
                <a:solidFill>
                  <a:srgbClr val="585858"/>
                </a:solidFill>
                <a:latin typeface="Tahoma"/>
                <a:cs typeface="Tahoma"/>
              </a:rPr>
              <a:t>kogda-polzovatel-</a:t>
            </a:r>
            <a:r>
              <a:rPr sz="1500" spc="-10" dirty="0">
                <a:solidFill>
                  <a:srgbClr val="585858"/>
                </a:solidFill>
                <a:latin typeface="Tahoma"/>
                <a:cs typeface="Tahoma"/>
              </a:rPr>
              <a:t>nabiraet-</a:t>
            </a:r>
            <a:r>
              <a:rPr sz="1500" spc="-30" dirty="0">
                <a:solidFill>
                  <a:srgbClr val="585858"/>
                </a:solidFill>
                <a:latin typeface="Tahoma"/>
                <a:cs typeface="Tahoma"/>
              </a:rPr>
              <a:t>v-</a:t>
            </a:r>
            <a:r>
              <a:rPr sz="1500" spc="-10" dirty="0">
                <a:solidFill>
                  <a:srgbClr val="585858"/>
                </a:solidFill>
                <a:latin typeface="Tahoma"/>
                <a:cs typeface="Tahoma"/>
              </a:rPr>
              <a:t>brauzere-</a:t>
            </a:r>
            <a:endParaRPr sz="1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500" dirty="0">
                <a:solidFill>
                  <a:srgbClr val="585858"/>
                </a:solidFill>
                <a:latin typeface="Tahoma"/>
                <a:cs typeface="Tahoma"/>
              </a:rPr>
              <a:t>adres-</a:t>
            </a:r>
            <a:r>
              <a:rPr sz="1500" spc="-10" dirty="0">
                <a:solidFill>
                  <a:srgbClr val="585858"/>
                </a:solidFill>
                <a:latin typeface="Tahoma"/>
                <a:cs typeface="Tahoma"/>
              </a:rPr>
              <a:t>sayta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Базовый</a:t>
            </a:r>
            <a:r>
              <a:rPr spc="85" dirty="0"/>
              <a:t> </a:t>
            </a:r>
            <a:r>
              <a:rPr dirty="0"/>
              <a:t>сценарий</a:t>
            </a:r>
            <a:r>
              <a:rPr spc="110" dirty="0"/>
              <a:t> </a:t>
            </a:r>
            <a:r>
              <a:rPr dirty="0"/>
              <a:t>работы</a:t>
            </a:r>
            <a:r>
              <a:rPr spc="65" dirty="0"/>
              <a:t> </a:t>
            </a:r>
            <a:r>
              <a:rPr spc="-25" dirty="0"/>
              <a:t>web-</a:t>
            </a:r>
            <a:r>
              <a:rPr spc="-10" dirty="0"/>
              <a:t>приложения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7070090" cy="12846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Пользователь</a:t>
            </a:r>
            <a:r>
              <a:rPr sz="1800" spc="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вводит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u="sng" spc="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URL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загружает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страницу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HTML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документ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анализирует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(парсит)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HTML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загружает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доп.</a:t>
            </a:r>
            <a:r>
              <a:rPr sz="1800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ресурсы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отображает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(рендерит)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HTML-</a:t>
            </a:r>
            <a:r>
              <a:rPr sz="1800" spc="-10" dirty="0">
                <a:latin typeface="Tahoma"/>
                <a:cs typeface="Tahoma"/>
              </a:rPr>
              <a:t>страницу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75" dirty="0"/>
              <a:t>URL</a:t>
            </a:r>
            <a:r>
              <a:rPr spc="-75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spc="-10" dirty="0"/>
              <a:t>unified</a:t>
            </a:r>
            <a:r>
              <a:rPr spc="-85" dirty="0"/>
              <a:t> </a:t>
            </a:r>
            <a:r>
              <a:rPr dirty="0"/>
              <a:t>resource</a:t>
            </a:r>
            <a:r>
              <a:rPr spc="-65" dirty="0"/>
              <a:t> </a:t>
            </a:r>
            <a:r>
              <a:rPr spc="-10" dirty="0"/>
              <a:t>locator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38249"/>
            <a:ext cx="8053070" cy="2294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Courier New"/>
                <a:cs typeface="Courier New"/>
                <a:hlinkClick r:id="rId3"/>
              </a:rPr>
              <a:t>http://mi-ami.ru:8080/profile/account.html?gender=male&amp;age=13#comments</a:t>
            </a:r>
            <a:endParaRPr sz="1500">
              <a:latin typeface="Courier New"/>
              <a:cs typeface="Courier New"/>
            </a:endParaRPr>
          </a:p>
          <a:p>
            <a:pPr marL="469900" indent="-341630">
              <a:lnSpc>
                <a:spcPct val="100000"/>
              </a:lnSpc>
              <a:spcBef>
                <a:spcPts val="148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http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протокол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mi-ami.ru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 доменное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имя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(DNS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имя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сервера)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8080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150" dirty="0">
                <a:latin typeface="Tahoma"/>
                <a:cs typeface="Tahoma"/>
              </a:rPr>
              <a:t>TCP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порт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/profile/account.html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путь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документа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Font typeface="Tahoma"/>
              <a:buChar char="●"/>
              <a:tabLst>
                <a:tab pos="469900" algn="l"/>
              </a:tabLst>
            </a:pPr>
            <a:r>
              <a:rPr sz="1800" b="1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"/>
                <a:cs typeface="Arial"/>
                <a:hlinkClick r:id="rId3"/>
              </a:rPr>
              <a:t>?gender=male&amp;age=13</a:t>
            </a:r>
            <a:r>
              <a:rPr sz="1800" b="1" spc="40" dirty="0">
                <a:solidFill>
                  <a:srgbClr val="0096A7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query-</a:t>
            </a:r>
            <a:r>
              <a:rPr sz="1800" dirty="0">
                <a:latin typeface="Tahoma"/>
                <a:cs typeface="Tahoma"/>
              </a:rPr>
              <a:t>параметры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(параметры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запроса)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#comments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якорь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Документы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8175625" cy="269938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Документ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это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тело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ответа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HTTP-</a:t>
            </a:r>
            <a:r>
              <a:rPr sz="1800" dirty="0">
                <a:latin typeface="Tahoma"/>
                <a:cs typeface="Tahoma"/>
              </a:rPr>
              <a:t>запроса.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Он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может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иметь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несколько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типов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Tahoma"/>
                <a:cs typeface="Tahoma"/>
              </a:rPr>
              <a:t>(MIME-</a:t>
            </a:r>
            <a:r>
              <a:rPr sz="1800" spc="-10" dirty="0">
                <a:latin typeface="Tahoma"/>
                <a:cs typeface="Tahoma"/>
              </a:rPr>
              <a:t>типы):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540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text/html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text/css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text/javascript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image/png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video/mp4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и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так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далее…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Документы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41297"/>
            <a:ext cx="8331200" cy="280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По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смыслу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документы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можно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разделить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статические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динамические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800" spc="-10" dirty="0">
                <a:latin typeface="Tahoma"/>
                <a:cs typeface="Tahoma"/>
              </a:rPr>
              <a:t>Статические:</a:t>
            </a:r>
            <a:endParaRPr sz="1800">
              <a:latin typeface="Tahoma"/>
              <a:cs typeface="Tahoma"/>
            </a:endParaRPr>
          </a:p>
          <a:p>
            <a:pPr marL="12700" marR="1471295" indent="457200">
              <a:lnSpc>
                <a:spcPct val="170100"/>
              </a:lnSpc>
              <a:spcBef>
                <a:spcPts val="2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Файлы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дисках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сервера,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зачастую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постоянным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35" dirty="0">
                <a:latin typeface="Tahoma"/>
                <a:cs typeface="Tahoma"/>
              </a:rPr>
              <a:t>адресом </a:t>
            </a:r>
            <a:r>
              <a:rPr sz="1800" spc="-10" dirty="0">
                <a:latin typeface="Tahoma"/>
                <a:cs typeface="Tahoma"/>
              </a:rPr>
              <a:t>Динамические: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53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Создаются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каждый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запрос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Содержимое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зависит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 внешних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факторов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(пользователя,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времени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тд)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Char char="●"/>
              <a:tabLst>
                <a:tab pos="469900" algn="l"/>
              </a:tabLst>
            </a:pPr>
            <a:r>
              <a:rPr sz="1800" spc="55" dirty="0">
                <a:latin typeface="Tahoma"/>
                <a:cs typeface="Tahoma"/>
              </a:rPr>
              <a:t>Адрес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может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меняться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(может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быть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постоянным)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65" dirty="0"/>
              <a:t>Ресурсы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895" y="1152143"/>
            <a:ext cx="8522208" cy="1956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65" dirty="0"/>
              <a:t>Ресурсы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895" y="1152143"/>
            <a:ext cx="8522208" cy="3593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Протоколы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683500" cy="23856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Существует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большое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множество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различных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сетевых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протоколов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связи.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spc="85" dirty="0">
                <a:latin typeface="Tahoma"/>
                <a:cs typeface="Tahoma"/>
              </a:rPr>
              <a:t>Самые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распространенные: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540"/>
              </a:spcBef>
              <a:buChar char="●"/>
              <a:tabLst>
                <a:tab pos="469900" algn="l"/>
              </a:tabLst>
            </a:pPr>
            <a:r>
              <a:rPr sz="1800" spc="125" dirty="0">
                <a:latin typeface="Tahoma"/>
                <a:cs typeface="Tahoma"/>
              </a:rPr>
              <a:t>TCP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Char char="●"/>
              <a:tabLst>
                <a:tab pos="469900" algn="l"/>
              </a:tabLst>
            </a:pPr>
            <a:r>
              <a:rPr sz="1800" spc="110" dirty="0">
                <a:latin typeface="Tahoma"/>
                <a:cs typeface="Tahoma"/>
              </a:rPr>
              <a:t>UPD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HTTP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(работает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поверх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TCP)</a:t>
            </a:r>
            <a:endParaRPr sz="1800">
              <a:latin typeface="Arial"/>
              <a:cs typeface="Arial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Char char="●"/>
              <a:tabLst>
                <a:tab pos="469900" algn="l"/>
              </a:tabLst>
            </a:pPr>
            <a:r>
              <a:rPr sz="1800" spc="100" dirty="0">
                <a:latin typeface="Tahoma"/>
                <a:cs typeface="Tahoma"/>
              </a:rPr>
              <a:t>FTP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Char char="●"/>
              <a:tabLst>
                <a:tab pos="469900" algn="l"/>
              </a:tabLst>
            </a:pPr>
            <a:r>
              <a:rPr sz="1800" spc="130" dirty="0">
                <a:latin typeface="Tahoma"/>
                <a:cs typeface="Tahoma"/>
              </a:rPr>
              <a:t>SSH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5" dirty="0"/>
              <a:t>HTTP</a:t>
            </a:r>
            <a:r>
              <a:rPr spc="-85" dirty="0"/>
              <a:t> </a:t>
            </a:r>
            <a:r>
              <a:rPr dirty="0"/>
              <a:t>-</a:t>
            </a:r>
            <a:r>
              <a:rPr spc="-70" dirty="0"/>
              <a:t> </a:t>
            </a:r>
            <a:r>
              <a:rPr dirty="0"/>
              <a:t>HyperText</a:t>
            </a:r>
            <a:r>
              <a:rPr spc="-55" dirty="0"/>
              <a:t> </a:t>
            </a:r>
            <a:r>
              <a:rPr dirty="0"/>
              <a:t>Transfer</a:t>
            </a:r>
            <a:r>
              <a:rPr spc="-95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8030209" cy="25380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65405">
              <a:lnSpc>
                <a:spcPct val="114999"/>
              </a:lnSpc>
              <a:spcBef>
                <a:spcPts val="85"/>
              </a:spcBef>
            </a:pPr>
            <a:r>
              <a:rPr sz="1800" dirty="0">
                <a:latin typeface="Tahoma"/>
                <a:cs typeface="Tahoma"/>
              </a:rPr>
              <a:t>Основой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HTTP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является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технология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«клиент-</a:t>
            </a:r>
            <a:r>
              <a:rPr sz="1800" dirty="0">
                <a:latin typeface="Tahoma"/>
                <a:cs typeface="Tahoma"/>
              </a:rPr>
              <a:t>сервер»: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всегда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есть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клиент, который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посылает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 сервер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который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получает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 </a:t>
            </a:r>
            <a:r>
              <a:rPr sz="1800" spc="-10" dirty="0">
                <a:latin typeface="Tahoma"/>
                <a:cs typeface="Tahoma"/>
              </a:rPr>
              <a:t>отдает </a:t>
            </a:r>
            <a:r>
              <a:rPr sz="1800" spc="-20" dirty="0">
                <a:latin typeface="Tahoma"/>
                <a:cs typeface="Tahoma"/>
              </a:rPr>
              <a:t>нужный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ответ.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  <a:spcBef>
                <a:spcPts val="1175"/>
              </a:spcBef>
            </a:pPr>
            <a:r>
              <a:rPr sz="1800" dirty="0">
                <a:latin typeface="Tahoma"/>
                <a:cs typeface="Tahoma"/>
              </a:rPr>
              <a:t>Изначально</a:t>
            </a:r>
            <a:r>
              <a:rPr sz="1800" spc="1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использовался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для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передачи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исключительно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HTML,</a:t>
            </a:r>
            <a:r>
              <a:rPr sz="1800" spc="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но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вскоре </a:t>
            </a:r>
            <a:r>
              <a:rPr sz="1800" dirty="0">
                <a:latin typeface="Tahoma"/>
                <a:cs typeface="Tahoma"/>
              </a:rPr>
              <a:t>был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расширен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при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помощи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MIME-</a:t>
            </a:r>
            <a:r>
              <a:rPr sz="1800" spc="-10" dirty="0">
                <a:latin typeface="Tahoma"/>
                <a:cs typeface="Tahoma"/>
              </a:rPr>
              <a:t>типов.</a:t>
            </a:r>
            <a:endParaRPr sz="1800">
              <a:latin typeface="Tahoma"/>
              <a:cs typeface="Tahoma"/>
            </a:endParaRPr>
          </a:p>
          <a:p>
            <a:pPr marL="12700" marR="351155">
              <a:lnSpc>
                <a:spcPct val="115599"/>
              </a:lnSpc>
              <a:spcBef>
                <a:spcPts val="1175"/>
              </a:spcBef>
            </a:pPr>
            <a:r>
              <a:rPr sz="1800" dirty="0">
                <a:latin typeface="Tahoma"/>
                <a:cs typeface="Tahoma"/>
              </a:rPr>
              <a:t>Отсюда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делаем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вывод,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что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каждый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браузера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ресурсами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это </a:t>
            </a:r>
            <a:r>
              <a:rPr sz="1800" spc="50" dirty="0">
                <a:latin typeface="Tahoma"/>
                <a:cs typeface="Tahoma"/>
              </a:rPr>
              <a:t>HTTP-</a:t>
            </a:r>
            <a:r>
              <a:rPr sz="1800" spc="-10" dirty="0">
                <a:latin typeface="Tahoma"/>
                <a:cs typeface="Tahoma"/>
              </a:rPr>
              <a:t>запрос.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Структура</a:t>
            </a:r>
            <a:r>
              <a:rPr spc="10" dirty="0"/>
              <a:t> </a:t>
            </a:r>
            <a:r>
              <a:rPr spc="90" dirty="0"/>
              <a:t>HTTP-</a:t>
            </a:r>
            <a:r>
              <a:rPr spc="-10" dirty="0"/>
              <a:t>запроса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41297"/>
            <a:ext cx="7697470" cy="202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Каждое</a:t>
            </a:r>
            <a:r>
              <a:rPr sz="1800" spc="55" dirty="0">
                <a:latin typeface="Tahoma"/>
                <a:cs typeface="Tahoma"/>
              </a:rPr>
              <a:t> HTTP-</a:t>
            </a:r>
            <a:r>
              <a:rPr sz="1800" dirty="0">
                <a:latin typeface="Tahoma"/>
                <a:cs typeface="Tahoma"/>
              </a:rPr>
              <a:t>сообщение</a:t>
            </a:r>
            <a:r>
              <a:rPr sz="1800" spc="114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состоит: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51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метод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(GET,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95" dirty="0">
                <a:latin typeface="Tahoma"/>
                <a:cs typeface="Tahoma"/>
              </a:rPr>
              <a:t>POST,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PUT,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120" dirty="0">
                <a:latin typeface="Tahoma"/>
                <a:cs typeface="Tahoma"/>
              </a:rPr>
              <a:t>DELETE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тд);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Char char="●"/>
              <a:tabLst>
                <a:tab pos="469900" algn="l"/>
              </a:tabLst>
            </a:pPr>
            <a:r>
              <a:rPr sz="1800" spc="125" dirty="0">
                <a:latin typeface="Tahoma"/>
                <a:cs typeface="Tahoma"/>
              </a:rPr>
              <a:t>URL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запроса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(адрес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ресурса);</a:t>
            </a:r>
            <a:endParaRPr sz="1800">
              <a:latin typeface="Tahoma"/>
              <a:cs typeface="Tahoma"/>
            </a:endParaRPr>
          </a:p>
          <a:p>
            <a:pPr marL="469900" marR="5080" indent="-342265">
              <a:lnSpc>
                <a:spcPts val="2500"/>
              </a:lnSpc>
              <a:spcBef>
                <a:spcPts val="115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заголовки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характеризуют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тело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сообщения,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параметры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передачи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и </a:t>
            </a:r>
            <a:r>
              <a:rPr sz="1800" dirty="0">
                <a:latin typeface="Tahoma"/>
                <a:cs typeface="Tahoma"/>
              </a:rPr>
              <a:t>прочие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сведения;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7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тело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может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отсутствовать.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Структура</a:t>
            </a:r>
            <a:r>
              <a:rPr spc="10" dirty="0"/>
              <a:t> </a:t>
            </a:r>
            <a:r>
              <a:rPr spc="90" dirty="0"/>
              <a:t>HTTP-</a:t>
            </a:r>
            <a:r>
              <a:rPr spc="-10" dirty="0"/>
              <a:t>ответа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934959" cy="23856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Ответ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как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правило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состоит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также </a:t>
            </a:r>
            <a:r>
              <a:rPr sz="1800" dirty="0">
                <a:latin typeface="Tahoma"/>
                <a:cs typeface="Tahoma"/>
              </a:rPr>
              <a:t>из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тела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заголовков</a:t>
            </a:r>
            <a:r>
              <a:rPr sz="1800" spc="-10" dirty="0">
                <a:latin typeface="Tahoma"/>
                <a:cs typeface="Tahoma"/>
              </a:rPr>
              <a:t>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а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также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из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статуса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Tahoma"/>
                <a:cs typeface="Tahoma"/>
              </a:rPr>
              <a:t>ответа.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Различают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5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видов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статусов: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54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1хх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информативный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статус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2хх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успешный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статус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3хх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перенаправление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4хх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клиентская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ошибка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Font typeface="Tahoma"/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5хх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ошибка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сервера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Пример</a:t>
            </a:r>
            <a:r>
              <a:rPr spc="150" dirty="0"/>
              <a:t> </a:t>
            </a:r>
            <a:r>
              <a:rPr spc="90" dirty="0"/>
              <a:t>HTTP-</a:t>
            </a:r>
            <a:r>
              <a:rPr spc="-10" dirty="0"/>
              <a:t>запроса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074" y="1508759"/>
            <a:ext cx="8505850" cy="2127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Пример</a:t>
            </a:r>
            <a:r>
              <a:rPr spc="150" dirty="0"/>
              <a:t> </a:t>
            </a:r>
            <a:r>
              <a:rPr spc="90" dirty="0"/>
              <a:t>HTTP-</a:t>
            </a:r>
            <a:r>
              <a:rPr spc="-10" dirty="0"/>
              <a:t>ответа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801" y="1322831"/>
            <a:ext cx="8514302" cy="34168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247" y="2307716"/>
            <a:ext cx="818070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dirty="0"/>
              <a:t>“Пользователь вводит</a:t>
            </a:r>
            <a:r>
              <a:rPr sz="3200" spc="35" dirty="0"/>
              <a:t> </a:t>
            </a:r>
            <a:r>
              <a:rPr sz="3200" dirty="0"/>
              <a:t>ссылку</a:t>
            </a:r>
            <a:r>
              <a:rPr sz="3200" spc="15" dirty="0"/>
              <a:t> </a:t>
            </a:r>
            <a:r>
              <a:rPr sz="3200" dirty="0"/>
              <a:t>в</a:t>
            </a:r>
            <a:r>
              <a:rPr sz="3200" spc="45" dirty="0"/>
              <a:t> браузер…”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7431" y="2888498"/>
            <a:ext cx="8288655" cy="5505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500" dirty="0">
                <a:solidFill>
                  <a:srgbClr val="585858"/>
                </a:solidFill>
                <a:latin typeface="Tahoma"/>
                <a:cs typeface="Tahoma"/>
              </a:rPr>
              <a:t>Подробнее</a:t>
            </a:r>
            <a:r>
              <a:rPr sz="1500" spc="175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585858"/>
                </a:solidFill>
                <a:latin typeface="Tahoma"/>
                <a:cs typeface="Tahoma"/>
              </a:rPr>
              <a:t>тут</a:t>
            </a:r>
            <a:r>
              <a:rPr sz="1500" spc="265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585858"/>
                </a:solidFill>
                <a:latin typeface="Tahoma"/>
                <a:cs typeface="Tahoma"/>
              </a:rPr>
              <a:t>https://vc.ru/selectel/76371-</a:t>
            </a:r>
            <a:r>
              <a:rPr sz="1500" spc="-25" dirty="0">
                <a:solidFill>
                  <a:srgbClr val="585858"/>
                </a:solidFill>
                <a:latin typeface="Tahoma"/>
                <a:cs typeface="Tahoma"/>
              </a:rPr>
              <a:t>chto-</a:t>
            </a:r>
            <a:r>
              <a:rPr sz="1500" spc="-10" dirty="0">
                <a:solidFill>
                  <a:srgbClr val="585858"/>
                </a:solidFill>
                <a:latin typeface="Tahoma"/>
                <a:cs typeface="Tahoma"/>
              </a:rPr>
              <a:t>proishodit-</a:t>
            </a:r>
            <a:r>
              <a:rPr sz="1500" dirty="0">
                <a:solidFill>
                  <a:srgbClr val="585858"/>
                </a:solidFill>
                <a:latin typeface="Tahoma"/>
                <a:cs typeface="Tahoma"/>
              </a:rPr>
              <a:t>kogda-polzovatel-</a:t>
            </a:r>
            <a:r>
              <a:rPr sz="1500" spc="-10" dirty="0">
                <a:solidFill>
                  <a:srgbClr val="585858"/>
                </a:solidFill>
                <a:latin typeface="Tahoma"/>
                <a:cs typeface="Tahoma"/>
              </a:rPr>
              <a:t>nabiraet-</a:t>
            </a:r>
            <a:r>
              <a:rPr sz="1500" spc="-30" dirty="0">
                <a:solidFill>
                  <a:srgbClr val="585858"/>
                </a:solidFill>
                <a:latin typeface="Tahoma"/>
                <a:cs typeface="Tahoma"/>
              </a:rPr>
              <a:t>v-</a:t>
            </a:r>
            <a:r>
              <a:rPr sz="1500" spc="-10" dirty="0">
                <a:solidFill>
                  <a:srgbClr val="585858"/>
                </a:solidFill>
                <a:latin typeface="Tahoma"/>
                <a:cs typeface="Tahoma"/>
              </a:rPr>
              <a:t>brauzere-</a:t>
            </a:r>
            <a:endParaRPr sz="1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500" dirty="0">
                <a:solidFill>
                  <a:srgbClr val="585858"/>
                </a:solidFill>
                <a:latin typeface="Tahoma"/>
                <a:cs typeface="Tahoma"/>
              </a:rPr>
              <a:t>adres-</a:t>
            </a:r>
            <a:r>
              <a:rPr sz="1500" spc="-10" dirty="0">
                <a:solidFill>
                  <a:srgbClr val="585858"/>
                </a:solidFill>
                <a:latin typeface="Tahoma"/>
                <a:cs typeface="Tahoma"/>
              </a:rPr>
              <a:t>sayta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Ну,</a:t>
            </a:r>
            <a:r>
              <a:rPr spc="-55" dirty="0"/>
              <a:t> </a:t>
            </a:r>
            <a:r>
              <a:rPr dirty="0"/>
              <a:t>вводи</a:t>
            </a:r>
            <a:r>
              <a:rPr spc="-60" dirty="0"/>
              <a:t> </a:t>
            </a:r>
            <a:r>
              <a:rPr spc="-25" dirty="0"/>
              <a:t>уже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4127" y="1676400"/>
            <a:ext cx="7095744" cy="17922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Поиск</a:t>
            </a:r>
            <a:r>
              <a:rPr spc="-80" dirty="0"/>
              <a:t> </a:t>
            </a:r>
            <a:r>
              <a:rPr spc="-10" dirty="0"/>
              <a:t>сервера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4670425" cy="316928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Работу</a:t>
            </a:r>
            <a:r>
              <a:rPr sz="1800" spc="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сайта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обеспечивает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сервер.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У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Tahoma"/>
                <a:cs typeface="Tahoma"/>
              </a:rPr>
              <a:t>сервера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есть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адрес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Arial"/>
                <a:cs typeface="Arial"/>
              </a:rPr>
              <a:t>IP-адрес.</a:t>
            </a:r>
            <a:endParaRPr sz="1800">
              <a:latin typeface="Arial"/>
              <a:cs typeface="Arial"/>
            </a:endParaRPr>
          </a:p>
          <a:p>
            <a:pPr marL="12700" marR="168275">
              <a:lnSpc>
                <a:spcPct val="170100"/>
              </a:lnSpc>
              <a:spcBef>
                <a:spcPts val="25"/>
              </a:spcBef>
            </a:pPr>
            <a:r>
              <a:rPr sz="1800" dirty="0">
                <a:latin typeface="Tahoma"/>
                <a:cs typeface="Tahoma"/>
              </a:rPr>
              <a:t>Откуда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браузеру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взять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IP-</a:t>
            </a:r>
            <a:r>
              <a:rPr sz="1800" dirty="0">
                <a:latin typeface="Tahoma"/>
                <a:cs typeface="Tahoma"/>
              </a:rPr>
              <a:t>адрес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35" dirty="0">
                <a:latin typeface="Tahoma"/>
                <a:cs typeface="Tahoma"/>
              </a:rPr>
              <a:t>сервера? </a:t>
            </a:r>
            <a:r>
              <a:rPr sz="1800" dirty="0">
                <a:latin typeface="Tahoma"/>
                <a:cs typeface="Tahoma"/>
              </a:rPr>
              <a:t>Такая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информация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хранится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в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5100"/>
              </a:lnSpc>
              <a:spcBef>
                <a:spcPts val="10"/>
              </a:spcBef>
            </a:pPr>
            <a:r>
              <a:rPr sz="1800" dirty="0">
                <a:latin typeface="Tahoma"/>
                <a:cs typeface="Tahoma"/>
              </a:rPr>
              <a:t>распределенной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системе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серверов</a:t>
            </a:r>
            <a:r>
              <a:rPr sz="1800" spc="170" dirty="0">
                <a:latin typeface="Tahoma"/>
                <a:cs typeface="Tahoma"/>
              </a:rPr>
              <a:t> </a:t>
            </a:r>
            <a:r>
              <a:rPr sz="1800" spc="145" dirty="0">
                <a:latin typeface="Tahoma"/>
                <a:cs typeface="Tahoma"/>
              </a:rPr>
              <a:t>—</a:t>
            </a:r>
            <a:r>
              <a:rPr sz="1800" spc="17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Arial"/>
                <a:cs typeface="Arial"/>
              </a:rPr>
              <a:t>DNS </a:t>
            </a:r>
            <a:r>
              <a:rPr sz="1800" dirty="0">
                <a:latin typeface="Tahoma"/>
                <a:cs typeface="Tahoma"/>
              </a:rPr>
              <a:t>(</a:t>
            </a:r>
            <a:r>
              <a:rPr sz="1800" b="1" dirty="0">
                <a:latin typeface="Arial"/>
                <a:cs typeface="Arial"/>
              </a:rPr>
              <a:t>Domain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System</a:t>
            </a:r>
            <a:r>
              <a:rPr sz="1800" spc="-20" dirty="0">
                <a:latin typeface="Tahoma"/>
                <a:cs typeface="Tahoma"/>
              </a:rPr>
              <a:t>).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Система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работает </a:t>
            </a:r>
            <a:r>
              <a:rPr sz="1800" spc="-65" dirty="0">
                <a:latin typeface="Tahoma"/>
                <a:cs typeface="Tahoma"/>
              </a:rPr>
              <a:t>как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общая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«контактная </a:t>
            </a:r>
            <a:r>
              <a:rPr sz="1800" spc="-40" dirty="0">
                <a:latin typeface="Tahoma"/>
                <a:cs typeface="Tahoma"/>
              </a:rPr>
              <a:t>книга»,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хранящаяся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распределенных</a:t>
            </a:r>
            <a:r>
              <a:rPr sz="1800" spc="10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серверах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spc="-60" dirty="0">
                <a:latin typeface="Tahoma"/>
                <a:cs typeface="Tahoma"/>
              </a:rPr>
              <a:t>и</a:t>
            </a:r>
            <a:r>
              <a:rPr sz="1800" dirty="0">
                <a:latin typeface="Tahoma"/>
                <a:cs typeface="Tahoma"/>
              </a:rPr>
              <a:t> устройствах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интернете.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9085" y="1228394"/>
            <a:ext cx="3281668" cy="32787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Оптимизация</a:t>
            </a:r>
            <a:r>
              <a:rPr spc="110" dirty="0"/>
              <a:t> </a:t>
            </a:r>
            <a:r>
              <a:rPr spc="-10" dirty="0"/>
              <a:t>поиска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880350" cy="26993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5880">
              <a:lnSpc>
                <a:spcPct val="114999"/>
              </a:lnSpc>
              <a:spcBef>
                <a:spcPts val="85"/>
              </a:spcBef>
            </a:pPr>
            <a:r>
              <a:rPr sz="1800" spc="60" dirty="0">
                <a:latin typeface="Tahoma"/>
                <a:cs typeface="Tahoma"/>
              </a:rPr>
              <a:t>На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самом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деле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не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сразу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обращается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20" dirty="0">
                <a:latin typeface="Tahoma"/>
                <a:cs typeface="Tahoma"/>
              </a:rPr>
              <a:t>к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DNS-</a:t>
            </a:r>
            <a:r>
              <a:rPr sz="1800" dirty="0">
                <a:latin typeface="Tahoma"/>
                <a:cs typeface="Tahoma"/>
              </a:rPr>
              <a:t>серверу.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35" dirty="0">
                <a:latin typeface="Tahoma"/>
                <a:cs typeface="Tahoma"/>
              </a:rPr>
              <a:t>Сначала </a:t>
            </a: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пытается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найти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запись об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IP-адресе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сайта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ближайших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местах, </a:t>
            </a:r>
            <a:r>
              <a:rPr sz="1800" dirty="0">
                <a:latin typeface="Tahoma"/>
                <a:cs typeface="Tahoma"/>
              </a:rPr>
              <a:t>чтобы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сэкономить </a:t>
            </a:r>
            <a:r>
              <a:rPr sz="1800" spc="-10" dirty="0">
                <a:latin typeface="Tahoma"/>
                <a:cs typeface="Tahoma"/>
              </a:rPr>
              <a:t>время: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515"/>
              </a:spcBef>
              <a:buAutoNum type="arabicPeriod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История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подключений</a:t>
            </a:r>
            <a:r>
              <a:rPr sz="1800" dirty="0">
                <a:latin typeface="Tahoma"/>
                <a:cs typeface="Tahoma"/>
              </a:rPr>
              <a:t> (если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пользователь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уже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посещал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сайт);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469900" algn="l"/>
              </a:tabLst>
            </a:pPr>
            <a:r>
              <a:rPr sz="1800" spc="125" dirty="0">
                <a:latin typeface="Tahoma"/>
                <a:cs typeface="Tahoma"/>
              </a:rPr>
              <a:t>В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операционной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системе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(какие-</a:t>
            </a:r>
            <a:r>
              <a:rPr sz="1800" dirty="0">
                <a:latin typeface="Tahoma"/>
                <a:cs typeface="Tahoma"/>
              </a:rPr>
              <a:t>то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приложения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обращались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25" dirty="0">
                <a:latin typeface="Tahoma"/>
                <a:cs typeface="Tahoma"/>
              </a:rPr>
              <a:t>к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сайту);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Кэш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роутера;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Кэш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провайдера;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Бесконечность не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предел,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вплоть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столкновения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DNS-</a:t>
            </a:r>
            <a:r>
              <a:rPr sz="1800" spc="-10" dirty="0">
                <a:latin typeface="Tahoma"/>
                <a:cs typeface="Tahoma"/>
              </a:rPr>
              <a:t>сервером.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DNS-</a:t>
            </a:r>
            <a:r>
              <a:rPr spc="-10" dirty="0"/>
              <a:t>сервер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991" y="1152142"/>
            <a:ext cx="6986016" cy="39075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Устанавливается</a:t>
            </a:r>
            <a:r>
              <a:rPr spc="545" dirty="0"/>
              <a:t> </a:t>
            </a:r>
            <a:r>
              <a:rPr spc="-10" dirty="0"/>
              <a:t>соединение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8272780" cy="14370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spc="-30" dirty="0">
                <a:latin typeface="Tahoma"/>
                <a:cs typeface="Tahoma"/>
              </a:rPr>
              <a:t>Как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только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узнал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IP-адрес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нужного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сервера,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он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пытается </a:t>
            </a:r>
            <a:r>
              <a:rPr sz="1800" spc="-10" dirty="0">
                <a:latin typeface="Tahoma"/>
                <a:cs typeface="Tahoma"/>
              </a:rPr>
              <a:t>установить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ним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соединение.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135" dirty="0">
                <a:latin typeface="Tahoma"/>
                <a:cs typeface="Tahoma"/>
              </a:rPr>
              <a:t>В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большинстве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случаев для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этого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используется </a:t>
            </a:r>
            <a:r>
              <a:rPr sz="1800" dirty="0">
                <a:latin typeface="Tahoma"/>
                <a:cs typeface="Tahoma"/>
              </a:rPr>
              <a:t>специальный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протокол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160" dirty="0">
                <a:latin typeface="Tahoma"/>
                <a:cs typeface="Tahoma"/>
              </a:rPr>
              <a:t>—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TCP.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800" dirty="0">
                <a:latin typeface="Tahoma"/>
                <a:cs typeface="Tahoma"/>
              </a:rPr>
              <a:t>Для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установления</a:t>
            </a:r>
            <a:r>
              <a:rPr sz="1800" spc="95" dirty="0">
                <a:latin typeface="Tahoma"/>
                <a:cs typeface="Tahoma"/>
              </a:rPr>
              <a:t> </a:t>
            </a:r>
            <a:r>
              <a:rPr sz="1800" spc="150" dirty="0">
                <a:latin typeface="Tahoma"/>
                <a:cs typeface="Tahoma"/>
              </a:rPr>
              <a:t>TCP</a:t>
            </a:r>
            <a:r>
              <a:rPr sz="1800" spc="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соединения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используется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система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трех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рукопожатий.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515238"/>
            <a:ext cx="32505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Тройное</a:t>
            </a:r>
            <a:r>
              <a:rPr spc="-30" dirty="0"/>
              <a:t> </a:t>
            </a:r>
            <a:r>
              <a:rPr spc="-10" dirty="0"/>
              <a:t>рукопожатие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470" y="1219962"/>
            <a:ext cx="4388485" cy="328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980" marR="125730" indent="-335915">
              <a:lnSpc>
                <a:spcPct val="105100"/>
              </a:lnSpc>
              <a:buChar char="●"/>
              <a:tabLst>
                <a:tab pos="347980" algn="l"/>
              </a:tabLst>
            </a:pPr>
            <a:r>
              <a:rPr sz="1700" dirty="0">
                <a:latin typeface="Tahoma"/>
                <a:cs typeface="Tahoma"/>
              </a:rPr>
              <a:t>Устройство</a:t>
            </a:r>
            <a:r>
              <a:rPr sz="1700" spc="6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пользователя</a:t>
            </a:r>
            <a:r>
              <a:rPr sz="1700" spc="17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отправляет </a:t>
            </a:r>
            <a:r>
              <a:rPr sz="1700" dirty="0">
                <a:latin typeface="Tahoma"/>
                <a:cs typeface="Tahoma"/>
              </a:rPr>
              <a:t>специальный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запрос</a:t>
            </a:r>
            <a:r>
              <a:rPr sz="1700" spc="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на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установку </a:t>
            </a:r>
            <a:r>
              <a:rPr sz="1700" dirty="0">
                <a:latin typeface="Tahoma"/>
                <a:cs typeface="Tahoma"/>
              </a:rPr>
              <a:t>соединения</a:t>
            </a:r>
            <a:r>
              <a:rPr sz="1700" spc="35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с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сервером</a:t>
            </a:r>
            <a:r>
              <a:rPr sz="1700" spc="100" dirty="0">
                <a:latin typeface="Tahoma"/>
                <a:cs typeface="Tahoma"/>
              </a:rPr>
              <a:t> </a:t>
            </a:r>
            <a:r>
              <a:rPr sz="1700" spc="135" dirty="0">
                <a:latin typeface="Tahoma"/>
                <a:cs typeface="Tahoma"/>
              </a:rPr>
              <a:t>—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называется </a:t>
            </a:r>
            <a:r>
              <a:rPr sz="1700" spc="85" dirty="0">
                <a:latin typeface="Tahoma"/>
                <a:cs typeface="Tahoma"/>
              </a:rPr>
              <a:t>SYN-</a:t>
            </a:r>
            <a:r>
              <a:rPr sz="1700" spc="-10" dirty="0">
                <a:latin typeface="Tahoma"/>
                <a:cs typeface="Tahoma"/>
              </a:rPr>
              <a:t>пакет.</a:t>
            </a:r>
            <a:endParaRPr sz="1700">
              <a:latin typeface="Tahoma"/>
              <a:cs typeface="Tahoma"/>
            </a:endParaRPr>
          </a:p>
          <a:p>
            <a:pPr marL="347980" marR="161290" indent="-335915">
              <a:lnSpc>
                <a:spcPct val="104800"/>
              </a:lnSpc>
              <a:buChar char="●"/>
              <a:tabLst>
                <a:tab pos="347980" algn="l"/>
              </a:tabLst>
            </a:pPr>
            <a:r>
              <a:rPr sz="1700" dirty="0">
                <a:latin typeface="Tahoma"/>
                <a:cs typeface="Tahoma"/>
              </a:rPr>
              <a:t>Сервер</a:t>
            </a:r>
            <a:r>
              <a:rPr sz="1700" spc="6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в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ответ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отправляет</a:t>
            </a:r>
            <a:r>
              <a:rPr sz="1700" spc="6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запрос</a:t>
            </a:r>
            <a:r>
              <a:rPr sz="1700" spc="70" dirty="0">
                <a:latin typeface="Tahoma"/>
                <a:cs typeface="Tahoma"/>
              </a:rPr>
              <a:t> </a:t>
            </a:r>
            <a:r>
              <a:rPr sz="1700" spc="10" dirty="0">
                <a:latin typeface="Tahoma"/>
                <a:cs typeface="Tahoma"/>
              </a:rPr>
              <a:t>с </a:t>
            </a:r>
            <a:r>
              <a:rPr sz="1700" dirty="0">
                <a:latin typeface="Tahoma"/>
                <a:cs typeface="Tahoma"/>
              </a:rPr>
              <a:t>подтверждением</a:t>
            </a:r>
            <a:r>
              <a:rPr sz="1700" spc="-4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получения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spc="65" dirty="0">
                <a:latin typeface="Tahoma"/>
                <a:cs typeface="Tahoma"/>
              </a:rPr>
              <a:t>SYN- </a:t>
            </a:r>
            <a:r>
              <a:rPr sz="1700" dirty="0">
                <a:latin typeface="Tahoma"/>
                <a:cs typeface="Tahoma"/>
              </a:rPr>
              <a:t>пакета</a:t>
            </a:r>
            <a:r>
              <a:rPr sz="1700" spc="60" dirty="0">
                <a:latin typeface="Tahoma"/>
                <a:cs typeface="Tahoma"/>
              </a:rPr>
              <a:t> </a:t>
            </a:r>
            <a:r>
              <a:rPr sz="1700" spc="135" dirty="0">
                <a:latin typeface="Tahoma"/>
                <a:cs typeface="Tahoma"/>
              </a:rPr>
              <a:t>—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называется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spc="70" dirty="0">
                <a:latin typeface="Tahoma"/>
                <a:cs typeface="Tahoma"/>
              </a:rPr>
              <a:t>SYN/ACK-</a:t>
            </a:r>
            <a:r>
              <a:rPr sz="1700" spc="-10" dirty="0">
                <a:latin typeface="Tahoma"/>
                <a:cs typeface="Tahoma"/>
              </a:rPr>
              <a:t>пакет.</a:t>
            </a:r>
            <a:endParaRPr sz="1700">
              <a:latin typeface="Tahoma"/>
              <a:cs typeface="Tahoma"/>
            </a:endParaRPr>
          </a:p>
          <a:p>
            <a:pPr marL="347980" marR="5080" indent="-335915">
              <a:lnSpc>
                <a:spcPct val="105100"/>
              </a:lnSpc>
              <a:spcBef>
                <a:spcPts val="15"/>
              </a:spcBef>
              <a:buChar char="●"/>
              <a:tabLst>
                <a:tab pos="347980" algn="l"/>
              </a:tabLst>
            </a:pPr>
            <a:r>
              <a:rPr sz="1700" spc="130" dirty="0">
                <a:latin typeface="Tahoma"/>
                <a:cs typeface="Tahoma"/>
              </a:rPr>
              <a:t>В</a:t>
            </a:r>
            <a:r>
              <a:rPr sz="1700" spc="-10" dirty="0">
                <a:latin typeface="Tahoma"/>
                <a:cs typeface="Tahoma"/>
              </a:rPr>
              <a:t> конце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устройство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пользователя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при </a:t>
            </a:r>
            <a:r>
              <a:rPr sz="1700" spc="-10" dirty="0">
                <a:latin typeface="Tahoma"/>
                <a:cs typeface="Tahoma"/>
              </a:rPr>
              <a:t>получении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70" dirty="0">
                <a:latin typeface="Tahoma"/>
                <a:cs typeface="Tahoma"/>
              </a:rPr>
              <a:t>SYN/ACK-</a:t>
            </a:r>
            <a:r>
              <a:rPr sz="1700" dirty="0">
                <a:latin typeface="Tahoma"/>
                <a:cs typeface="Tahoma"/>
              </a:rPr>
              <a:t>пакета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отправляет пакет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с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подтверждением</a:t>
            </a:r>
            <a:r>
              <a:rPr sz="1700" spc="25" dirty="0">
                <a:latin typeface="Tahoma"/>
                <a:cs typeface="Tahoma"/>
              </a:rPr>
              <a:t> </a:t>
            </a:r>
            <a:r>
              <a:rPr sz="1700" spc="155" dirty="0">
                <a:latin typeface="Tahoma"/>
                <a:cs typeface="Tahoma"/>
              </a:rPr>
              <a:t>—</a:t>
            </a:r>
            <a:r>
              <a:rPr sz="1700" spc="-85" dirty="0">
                <a:latin typeface="Tahoma"/>
                <a:cs typeface="Tahoma"/>
              </a:rPr>
              <a:t> </a:t>
            </a:r>
            <a:r>
              <a:rPr sz="1700" spc="90" dirty="0">
                <a:latin typeface="Tahoma"/>
                <a:cs typeface="Tahoma"/>
              </a:rPr>
              <a:t>ACK-</a:t>
            </a:r>
            <a:r>
              <a:rPr sz="1700" spc="-10" dirty="0">
                <a:latin typeface="Tahoma"/>
                <a:cs typeface="Tahoma"/>
              </a:rPr>
              <a:t>пакет. </a:t>
            </a:r>
            <a:r>
              <a:rPr sz="1700" spc="130" dirty="0">
                <a:latin typeface="Tahoma"/>
                <a:cs typeface="Tahoma"/>
              </a:rPr>
              <a:t>В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этот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момент</a:t>
            </a:r>
            <a:r>
              <a:rPr sz="1700" spc="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соединение</a:t>
            </a:r>
            <a:r>
              <a:rPr sz="1700" spc="4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считается установленным.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7215" y="667381"/>
            <a:ext cx="3493008" cy="39015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Остальные</a:t>
            </a:r>
            <a:r>
              <a:rPr spc="-55" dirty="0"/>
              <a:t> </a:t>
            </a:r>
            <a:r>
              <a:rPr spc="-20" dirty="0"/>
              <a:t>шаги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7864475" cy="16014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отправляет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HTTP-</a:t>
            </a:r>
            <a:r>
              <a:rPr sz="1800" dirty="0">
                <a:latin typeface="Tahoma"/>
                <a:cs typeface="Tahoma"/>
              </a:rPr>
              <a:t>запрос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установленному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соединению;</a:t>
            </a:r>
            <a:endParaRPr sz="1800">
              <a:latin typeface="Tahoma"/>
              <a:cs typeface="Tahoma"/>
            </a:endParaRPr>
          </a:p>
          <a:p>
            <a:pPr marL="354330" marR="97790" indent="-342265">
              <a:lnSpc>
                <a:spcPts val="2500"/>
              </a:lnSpc>
              <a:spcBef>
                <a:spcPts val="110"/>
              </a:spcBef>
              <a:buAutoNum type="arabicPeriod"/>
              <a:tabLst>
                <a:tab pos="354330" algn="l"/>
              </a:tabLst>
            </a:pPr>
            <a:r>
              <a:rPr sz="1800" spc="50" dirty="0">
                <a:latin typeface="Tahoma"/>
                <a:cs typeface="Tahoma"/>
              </a:rPr>
              <a:t>Сервер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получает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обрабатывает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его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(бизнес-</a:t>
            </a:r>
            <a:r>
              <a:rPr sz="1800" spc="-25" dirty="0">
                <a:latin typeface="Tahoma"/>
                <a:cs typeface="Tahoma"/>
              </a:rPr>
              <a:t>логика,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рендер, </a:t>
            </a:r>
            <a:r>
              <a:rPr sz="1800" dirty="0">
                <a:latin typeface="Tahoma"/>
                <a:cs typeface="Tahoma"/>
              </a:rPr>
              <a:t>проксирование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тд);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353695" algn="l"/>
              </a:tabLst>
            </a:pPr>
            <a:r>
              <a:rPr sz="1800" spc="50" dirty="0">
                <a:latin typeface="Tahoma"/>
                <a:cs typeface="Tahoma"/>
              </a:rPr>
              <a:t>Сервер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отправляет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браузера.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Это</a:t>
            </a:r>
            <a:r>
              <a:rPr sz="1800" dirty="0">
                <a:latin typeface="Tahoma"/>
                <a:cs typeface="Tahoma"/>
              </a:rPr>
              <a:t> может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быть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любой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(!)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ресурс;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обрабатывает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полученный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«рисует»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веб-</a:t>
            </a:r>
            <a:r>
              <a:rPr sz="1800" spc="-10" dirty="0">
                <a:latin typeface="Tahoma"/>
                <a:cs typeface="Tahoma"/>
              </a:rPr>
              <a:t>страницу;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Как</a:t>
            </a:r>
            <a:r>
              <a:rPr spc="-85" dirty="0"/>
              <a:t> </a:t>
            </a:r>
            <a:r>
              <a:rPr dirty="0"/>
              <a:t>происходит</a:t>
            </a:r>
            <a:r>
              <a:rPr spc="-65" dirty="0"/>
              <a:t> </a:t>
            </a:r>
            <a:r>
              <a:rPr dirty="0"/>
              <a:t>рендер</a:t>
            </a:r>
            <a:r>
              <a:rPr spc="-90" dirty="0"/>
              <a:t> </a:t>
            </a:r>
            <a:r>
              <a:rPr spc="-35" dirty="0"/>
              <a:t>(кратко)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8214995" cy="26993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spc="45" dirty="0">
                <a:latin typeface="Tahoma"/>
                <a:cs typeface="Tahoma"/>
              </a:rPr>
              <a:t>Сначала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загружает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b="1" dirty="0">
                <a:latin typeface="Arial"/>
                <a:cs typeface="Arial"/>
              </a:rPr>
              <a:t>только основную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структуру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HTML-страницы</a:t>
            </a:r>
            <a:r>
              <a:rPr sz="1800" spc="-10" dirty="0">
                <a:latin typeface="Tahoma"/>
                <a:cs typeface="Tahoma"/>
              </a:rPr>
              <a:t>. </a:t>
            </a:r>
            <a:r>
              <a:rPr sz="1800" spc="50" dirty="0">
                <a:latin typeface="Tahoma"/>
                <a:cs typeface="Tahoma"/>
              </a:rPr>
              <a:t>Затем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последовательно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проверяет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все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теги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отправляет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дополнительные </a:t>
            </a:r>
            <a:r>
              <a:rPr sz="1800" spc="80" dirty="0">
                <a:latin typeface="Tahoma"/>
                <a:cs typeface="Tahoma"/>
              </a:rPr>
              <a:t>GET-</a:t>
            </a:r>
            <a:r>
              <a:rPr sz="1800" dirty="0">
                <a:latin typeface="Tahoma"/>
                <a:cs typeface="Tahoma"/>
              </a:rPr>
              <a:t>запросы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для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получения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сервера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различных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элементов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160" dirty="0">
                <a:latin typeface="Tahoma"/>
                <a:cs typeface="Tahoma"/>
              </a:rPr>
              <a:t>—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картинки, </a:t>
            </a:r>
            <a:r>
              <a:rPr sz="1800" dirty="0">
                <a:latin typeface="Tahoma"/>
                <a:cs typeface="Tahoma"/>
              </a:rPr>
              <a:t>файлы,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скрипты,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таблицы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стилей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так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далее.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Поэтому по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мере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загрузки </a:t>
            </a:r>
            <a:r>
              <a:rPr sz="1800" dirty="0">
                <a:latin typeface="Tahoma"/>
                <a:cs typeface="Tahoma"/>
              </a:rPr>
              <a:t>страницы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продолжают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обмениваться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между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собой информацией.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800" spc="-30" dirty="0">
                <a:latin typeface="Tahoma"/>
                <a:cs typeface="Tahoma"/>
              </a:rPr>
              <a:t>Как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только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рендеринг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завершен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145" dirty="0">
                <a:latin typeface="Tahoma"/>
                <a:cs typeface="Tahoma"/>
              </a:rPr>
              <a:t>—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пользователю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отобразится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полностью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latin typeface="Tahoma"/>
                <a:cs typeface="Tahoma"/>
              </a:rPr>
              <a:t>загруженная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страница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сайта.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4639" y="2273884"/>
            <a:ext cx="60115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Критические</a:t>
            </a:r>
            <a:r>
              <a:rPr sz="3600" spc="-45" dirty="0"/>
              <a:t> </a:t>
            </a:r>
            <a:r>
              <a:rPr sz="3600" dirty="0"/>
              <a:t>этапы</a:t>
            </a:r>
            <a:r>
              <a:rPr sz="3600" spc="-45" dirty="0"/>
              <a:t> </a:t>
            </a:r>
            <a:r>
              <a:rPr sz="3600" spc="-10" dirty="0"/>
              <a:t>рендера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52399" y="2883619"/>
            <a:ext cx="8026400" cy="6546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solidFill>
                  <a:srgbClr val="585858"/>
                </a:solidFill>
                <a:latin typeface="Tahoma"/>
                <a:cs typeface="Tahoma"/>
              </a:rPr>
              <a:t>Подробнее</a:t>
            </a:r>
            <a:r>
              <a:rPr sz="1800" spc="150" dirty="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85858"/>
                </a:solidFill>
                <a:latin typeface="Tahoma"/>
                <a:cs typeface="Tahoma"/>
              </a:rPr>
              <a:t>тут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solidFill>
                  <a:srgbClr val="585858"/>
                </a:solidFill>
                <a:latin typeface="Tahoma"/>
                <a:cs typeface="Tahoma"/>
              </a:rPr>
              <a:t>https://developer.mozilla.org/ru/docs/Web/Performance/Critical_rendering_path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Критические</a:t>
            </a:r>
            <a:r>
              <a:rPr spc="-70" dirty="0"/>
              <a:t> </a:t>
            </a:r>
            <a:r>
              <a:rPr dirty="0"/>
              <a:t>этапы</a:t>
            </a:r>
            <a:r>
              <a:rPr spc="-90" dirty="0"/>
              <a:t> </a:t>
            </a:r>
            <a:r>
              <a:rPr spc="-10" dirty="0"/>
              <a:t>рендера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85"/>
              </a:spcBef>
            </a:pPr>
            <a:r>
              <a:rPr spc="-10" dirty="0"/>
              <a:t>Критические</a:t>
            </a:r>
            <a:r>
              <a:rPr spc="-85" dirty="0"/>
              <a:t> </a:t>
            </a:r>
            <a:r>
              <a:rPr dirty="0"/>
              <a:t>этапы рендеринга</a:t>
            </a:r>
            <a:r>
              <a:rPr spc="-5" dirty="0"/>
              <a:t> </a:t>
            </a:r>
            <a:r>
              <a:rPr dirty="0"/>
              <a:t>(Critical</a:t>
            </a:r>
            <a:r>
              <a:rPr spc="-50" dirty="0"/>
              <a:t> </a:t>
            </a:r>
            <a:r>
              <a:rPr dirty="0"/>
              <a:t>Rendering</a:t>
            </a:r>
            <a:r>
              <a:rPr spc="-85" dirty="0"/>
              <a:t> </a:t>
            </a:r>
            <a:r>
              <a:rPr dirty="0"/>
              <a:t>Path)</a:t>
            </a:r>
            <a:r>
              <a:rPr spc="5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это </a:t>
            </a:r>
            <a:r>
              <a:rPr spc="10" dirty="0"/>
              <a:t>последовательность</a:t>
            </a:r>
            <a:r>
              <a:rPr spc="-105" dirty="0"/>
              <a:t> </a:t>
            </a:r>
            <a:r>
              <a:rPr dirty="0"/>
              <a:t>шагов,</a:t>
            </a:r>
            <a:r>
              <a:rPr spc="-20" dirty="0"/>
              <a:t> </a:t>
            </a:r>
            <a:r>
              <a:rPr dirty="0"/>
              <a:t>которые</a:t>
            </a:r>
            <a:r>
              <a:rPr spc="-45" dirty="0"/>
              <a:t> </a:t>
            </a:r>
            <a:r>
              <a:rPr spc="10" dirty="0"/>
              <a:t>выполняет</a:t>
            </a:r>
            <a:r>
              <a:rPr spc="-35" dirty="0"/>
              <a:t> </a:t>
            </a:r>
            <a:r>
              <a:rPr spc="10" dirty="0"/>
              <a:t>браузер,</a:t>
            </a:r>
            <a:r>
              <a:rPr spc="-45" dirty="0"/>
              <a:t> </a:t>
            </a:r>
            <a:r>
              <a:rPr spc="-10" dirty="0"/>
              <a:t>когда </a:t>
            </a:r>
            <a:r>
              <a:rPr dirty="0"/>
              <a:t>преобразуется</a:t>
            </a:r>
            <a:r>
              <a:rPr spc="-25" dirty="0"/>
              <a:t> </a:t>
            </a:r>
            <a:r>
              <a:rPr dirty="0"/>
              <a:t>HTML,</a:t>
            </a:r>
            <a:r>
              <a:rPr spc="65" dirty="0"/>
              <a:t> </a:t>
            </a:r>
            <a:r>
              <a:rPr spc="200" dirty="0"/>
              <a:t>CSS</a:t>
            </a:r>
            <a:r>
              <a:rPr spc="25" dirty="0"/>
              <a:t> </a:t>
            </a:r>
            <a:r>
              <a:rPr dirty="0"/>
              <a:t>и</a:t>
            </a:r>
            <a:r>
              <a:rPr spc="25" dirty="0"/>
              <a:t> </a:t>
            </a:r>
            <a:r>
              <a:rPr dirty="0"/>
              <a:t>JavaScript</a:t>
            </a:r>
            <a:r>
              <a:rPr spc="-20" dirty="0"/>
              <a:t> </a:t>
            </a:r>
            <a:r>
              <a:rPr dirty="0"/>
              <a:t>в</a:t>
            </a:r>
            <a:r>
              <a:rPr spc="35" dirty="0"/>
              <a:t> </a:t>
            </a:r>
            <a:r>
              <a:rPr spc="-10" dirty="0"/>
              <a:t>пиксели,</a:t>
            </a:r>
            <a:r>
              <a:rPr spc="-50" dirty="0"/>
              <a:t> </a:t>
            </a:r>
            <a:r>
              <a:rPr dirty="0"/>
              <a:t>которые</a:t>
            </a:r>
            <a:r>
              <a:rPr spc="5" dirty="0"/>
              <a:t> </a:t>
            </a:r>
            <a:r>
              <a:rPr dirty="0"/>
              <a:t>вы</a:t>
            </a:r>
            <a:r>
              <a:rPr spc="35" dirty="0"/>
              <a:t> </a:t>
            </a:r>
            <a:r>
              <a:rPr dirty="0"/>
              <a:t>видите</a:t>
            </a:r>
            <a:r>
              <a:rPr spc="10" dirty="0"/>
              <a:t> </a:t>
            </a:r>
            <a:r>
              <a:rPr spc="-25" dirty="0"/>
              <a:t>на </a:t>
            </a:r>
            <a:r>
              <a:rPr spc="-10" dirty="0"/>
              <a:t>экране.</a:t>
            </a:r>
          </a:p>
          <a:p>
            <a:pPr marL="469900" indent="-341630">
              <a:lnSpc>
                <a:spcPct val="100000"/>
              </a:lnSpc>
              <a:spcBef>
                <a:spcPts val="1540"/>
              </a:spcBef>
              <a:buAutoNum type="arabicPeriod"/>
              <a:tabLst>
                <a:tab pos="469900" algn="l"/>
              </a:tabLst>
            </a:pPr>
            <a:r>
              <a:rPr dirty="0"/>
              <a:t>Загрузка</a:t>
            </a:r>
            <a:r>
              <a:rPr spc="-105" dirty="0"/>
              <a:t> </a:t>
            </a:r>
            <a:r>
              <a:rPr spc="-20" dirty="0"/>
              <a:t>HTML;</a:t>
            </a: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469900" algn="l"/>
              </a:tabLst>
            </a:pPr>
            <a:r>
              <a:rPr spc="-20" dirty="0"/>
              <a:t>DOM;</a:t>
            </a: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469900" algn="l"/>
              </a:tabLst>
            </a:pPr>
            <a:r>
              <a:rPr spc="95" dirty="0"/>
              <a:t>CSSOM;</a:t>
            </a: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469900" algn="l"/>
              </a:tabLst>
            </a:pPr>
            <a:r>
              <a:rPr dirty="0"/>
              <a:t>Дерево</a:t>
            </a:r>
            <a:r>
              <a:rPr spc="-5" dirty="0"/>
              <a:t> </a:t>
            </a:r>
            <a:r>
              <a:rPr dirty="0"/>
              <a:t>рендера</a:t>
            </a:r>
            <a:r>
              <a:rPr spc="-30" dirty="0"/>
              <a:t> </a:t>
            </a:r>
            <a:r>
              <a:rPr spc="-10" dirty="0"/>
              <a:t>(render tree);</a:t>
            </a: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469900" algn="l"/>
              </a:tabLst>
            </a:pPr>
            <a:r>
              <a:rPr dirty="0"/>
              <a:t>Компоновка</a:t>
            </a:r>
            <a:r>
              <a:rPr spc="-110" dirty="0"/>
              <a:t> </a:t>
            </a:r>
            <a:r>
              <a:rPr spc="-10" dirty="0"/>
              <a:t>(layout);</a:t>
            </a: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69900" algn="l"/>
              </a:tabLst>
            </a:pPr>
            <a:r>
              <a:rPr dirty="0"/>
              <a:t>Отрисовка</a:t>
            </a:r>
            <a:r>
              <a:rPr spc="30" dirty="0"/>
              <a:t> </a:t>
            </a:r>
            <a:r>
              <a:rPr spc="-10" dirty="0"/>
              <a:t>(paint).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Критические</a:t>
            </a:r>
            <a:r>
              <a:rPr spc="-10" dirty="0"/>
              <a:t> </a:t>
            </a:r>
            <a:r>
              <a:rPr dirty="0"/>
              <a:t>этапы</a:t>
            </a:r>
            <a:r>
              <a:rPr spc="-35" dirty="0"/>
              <a:t> </a:t>
            </a:r>
            <a:r>
              <a:rPr dirty="0"/>
              <a:t>рендера</a:t>
            </a:r>
            <a:r>
              <a:rPr spc="-55" dirty="0"/>
              <a:t> </a:t>
            </a:r>
            <a:r>
              <a:rPr spc="-10" dirty="0"/>
              <a:t>(базово)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19962"/>
            <a:ext cx="8352790" cy="3551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73990">
              <a:lnSpc>
                <a:spcPct val="105100"/>
              </a:lnSpc>
            </a:pPr>
            <a:r>
              <a:rPr sz="1700" dirty="0">
                <a:latin typeface="Tahoma"/>
                <a:cs typeface="Tahoma"/>
              </a:rPr>
              <a:t>Браузер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парсит</a:t>
            </a:r>
            <a:r>
              <a:rPr sz="1700" spc="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загружаемый</a:t>
            </a:r>
            <a:r>
              <a:rPr sz="1700" spc="7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HTML,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преобразуя</a:t>
            </a:r>
            <a:r>
              <a:rPr sz="1700" spc="7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полученные</a:t>
            </a:r>
            <a:r>
              <a:rPr sz="1700" spc="7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байты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документа</a:t>
            </a:r>
            <a:r>
              <a:rPr sz="1700" spc="50" dirty="0">
                <a:latin typeface="Tahoma"/>
                <a:cs typeface="Tahoma"/>
              </a:rPr>
              <a:t> </a:t>
            </a:r>
            <a:r>
              <a:rPr sz="1700" spc="-50" dirty="0">
                <a:latin typeface="Tahoma"/>
                <a:cs typeface="Tahoma"/>
              </a:rPr>
              <a:t>в </a:t>
            </a:r>
            <a:r>
              <a:rPr sz="1700" spc="55" dirty="0">
                <a:latin typeface="Tahoma"/>
                <a:cs typeface="Tahoma"/>
              </a:rPr>
              <a:t>DOM-</a:t>
            </a:r>
            <a:r>
              <a:rPr sz="1700" dirty="0">
                <a:latin typeface="Tahoma"/>
                <a:cs typeface="Tahoma"/>
              </a:rPr>
              <a:t>дерево.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Браузер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создает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новый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запрос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каждый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раз,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когда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он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находит </a:t>
            </a:r>
            <a:r>
              <a:rPr sz="1700" dirty="0">
                <a:latin typeface="Tahoma"/>
                <a:cs typeface="Tahoma"/>
              </a:rPr>
              <a:t>ссылки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на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внешние ресурсы,</a:t>
            </a:r>
            <a:r>
              <a:rPr sz="1700" spc="4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будь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то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файлы</a:t>
            </a:r>
            <a:r>
              <a:rPr sz="1700" spc="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стилей,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скриптов </a:t>
            </a:r>
            <a:r>
              <a:rPr sz="1700" dirty="0">
                <a:latin typeface="Tahoma"/>
                <a:cs typeface="Tahoma"/>
              </a:rPr>
              <a:t>или</a:t>
            </a:r>
            <a:r>
              <a:rPr sz="1700" spc="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ссылки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на </a:t>
            </a:r>
            <a:r>
              <a:rPr sz="1700" spc="-10" dirty="0">
                <a:latin typeface="Tahoma"/>
                <a:cs typeface="Tahoma"/>
              </a:rPr>
              <a:t>изображения.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Tahoma"/>
                <a:cs typeface="Tahoma"/>
              </a:rPr>
              <a:t>Браузер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продолжает</a:t>
            </a:r>
            <a:r>
              <a:rPr sz="1700" spc="6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парсить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spc="70" dirty="0">
                <a:latin typeface="Tahoma"/>
                <a:cs typeface="Tahoma"/>
              </a:rPr>
              <a:t>HTML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создавать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spc="95" dirty="0">
                <a:latin typeface="Tahoma"/>
                <a:cs typeface="Tahoma"/>
              </a:rPr>
              <a:t>DOM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до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тех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пор,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пока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запрос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на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Tahoma"/>
                <a:cs typeface="Tahoma"/>
              </a:rPr>
              <a:t>получение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70" dirty="0">
                <a:latin typeface="Tahoma"/>
                <a:cs typeface="Tahoma"/>
              </a:rPr>
              <a:t>HTML</a:t>
            </a:r>
            <a:r>
              <a:rPr sz="1700" spc="-6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не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подходит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spc="-114" dirty="0">
                <a:latin typeface="Tahoma"/>
                <a:cs typeface="Tahoma"/>
              </a:rPr>
              <a:t>к</a:t>
            </a:r>
            <a:r>
              <a:rPr sz="1700" spc="-6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концу.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ahoma"/>
                <a:cs typeface="Tahoma"/>
              </a:rPr>
              <a:t>После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завершения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парсинга</a:t>
            </a:r>
            <a:r>
              <a:rPr sz="1700" spc="25" dirty="0">
                <a:latin typeface="Tahoma"/>
                <a:cs typeface="Tahoma"/>
              </a:rPr>
              <a:t> </a:t>
            </a:r>
            <a:r>
              <a:rPr sz="1700" spc="60" dirty="0">
                <a:latin typeface="Tahoma"/>
                <a:cs typeface="Tahoma"/>
              </a:rPr>
              <a:t>DOM,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браузер</a:t>
            </a:r>
            <a:r>
              <a:rPr sz="1700" spc="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конструирует</a:t>
            </a:r>
            <a:r>
              <a:rPr sz="1700" spc="30" dirty="0">
                <a:latin typeface="Tahoma"/>
                <a:cs typeface="Tahoma"/>
              </a:rPr>
              <a:t> </a:t>
            </a:r>
            <a:r>
              <a:rPr sz="1700" spc="180" dirty="0">
                <a:latin typeface="Tahoma"/>
                <a:cs typeface="Tahoma"/>
              </a:rPr>
              <a:t>CSS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модель.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20" dirty="0">
                <a:latin typeface="Tahoma"/>
                <a:cs typeface="Tahoma"/>
              </a:rPr>
              <a:t>Как</a:t>
            </a:r>
            <a:r>
              <a:rPr sz="1700" spc="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только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эти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модели</a:t>
            </a:r>
            <a:r>
              <a:rPr sz="1700" spc="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сформированы,</a:t>
            </a:r>
            <a:r>
              <a:rPr sz="1700" spc="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браузер</a:t>
            </a:r>
            <a:r>
              <a:rPr sz="1700" spc="6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строит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дерево</a:t>
            </a:r>
            <a:r>
              <a:rPr sz="1700" spc="6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рендера</a:t>
            </a:r>
            <a:r>
              <a:rPr sz="1700" spc="8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(render</a:t>
            </a:r>
            <a:endParaRPr sz="1700">
              <a:latin typeface="Tahoma"/>
              <a:cs typeface="Tahoma"/>
            </a:endParaRPr>
          </a:p>
          <a:p>
            <a:pPr marL="12700" marR="586105">
              <a:lnSpc>
                <a:spcPct val="104800"/>
              </a:lnSpc>
            </a:pPr>
            <a:r>
              <a:rPr sz="1700" spc="-30" dirty="0">
                <a:latin typeface="Tahoma"/>
                <a:cs typeface="Tahoma"/>
              </a:rPr>
              <a:t>tree),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в котором</a:t>
            </a:r>
            <a:r>
              <a:rPr sz="1700" spc="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вычисляет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стили</a:t>
            </a:r>
            <a:r>
              <a:rPr sz="1700" spc="-4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для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каждого</a:t>
            </a:r>
            <a:r>
              <a:rPr sz="1700" spc="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видимого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элемента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страницы. </a:t>
            </a:r>
            <a:r>
              <a:rPr sz="1700" dirty="0">
                <a:latin typeface="Tahoma"/>
                <a:cs typeface="Tahoma"/>
              </a:rPr>
              <a:t>После</a:t>
            </a:r>
            <a:r>
              <a:rPr sz="1700" spc="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формирования</a:t>
            </a:r>
            <a:r>
              <a:rPr sz="1700" spc="5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дерева</a:t>
            </a:r>
            <a:r>
              <a:rPr sz="1700" spc="5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происходит</a:t>
            </a:r>
            <a:r>
              <a:rPr sz="1700" spc="4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компоновка</a:t>
            </a:r>
            <a:r>
              <a:rPr sz="1700" spc="80" dirty="0">
                <a:latin typeface="Tahoma"/>
                <a:cs typeface="Tahoma"/>
              </a:rPr>
              <a:t> </a:t>
            </a:r>
            <a:r>
              <a:rPr sz="1700" spc="-30" dirty="0">
                <a:latin typeface="Tahoma"/>
                <a:cs typeface="Tahoma"/>
              </a:rPr>
              <a:t>(layout),</a:t>
            </a:r>
            <a:r>
              <a:rPr sz="1700" spc="2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которая </a:t>
            </a:r>
            <a:r>
              <a:rPr sz="1700" dirty="0">
                <a:latin typeface="Tahoma"/>
                <a:cs typeface="Tahoma"/>
              </a:rPr>
              <a:t>определяет</a:t>
            </a:r>
            <a:r>
              <a:rPr sz="1700" spc="7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положение</a:t>
            </a:r>
            <a:r>
              <a:rPr sz="1700" spc="6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размеры</a:t>
            </a:r>
            <a:r>
              <a:rPr sz="1700" spc="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элементов этого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дерева.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04700"/>
              </a:lnSpc>
              <a:spcBef>
                <a:spcPts val="30"/>
              </a:spcBef>
            </a:pPr>
            <a:r>
              <a:rPr sz="1700" spc="-20" dirty="0">
                <a:latin typeface="Tahoma"/>
                <a:cs typeface="Tahoma"/>
              </a:rPr>
              <a:t>Как</a:t>
            </a:r>
            <a:r>
              <a:rPr sz="1700" dirty="0">
                <a:latin typeface="Tahoma"/>
                <a:cs typeface="Tahoma"/>
              </a:rPr>
              <a:t> только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этап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завершён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-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страница</a:t>
            </a:r>
            <a:r>
              <a:rPr sz="1700" spc="-6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рендерится.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Или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"отрисовывается"</a:t>
            </a:r>
            <a:r>
              <a:rPr sz="1700" spc="-45" dirty="0">
                <a:latin typeface="Tahoma"/>
                <a:cs typeface="Tahoma"/>
              </a:rPr>
              <a:t> </a:t>
            </a:r>
            <a:r>
              <a:rPr sz="1700" spc="-30" dirty="0">
                <a:latin typeface="Tahoma"/>
                <a:cs typeface="Tahoma"/>
              </a:rPr>
              <a:t>(paint)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на </a:t>
            </a:r>
            <a:r>
              <a:rPr sz="1700" spc="-10" dirty="0">
                <a:latin typeface="Tahoma"/>
                <a:cs typeface="Tahoma"/>
              </a:rPr>
              <a:t>экране.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Document</a:t>
            </a:r>
            <a:r>
              <a:rPr spc="-40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13865"/>
            <a:ext cx="4306570" cy="308038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00"/>
              </a:spcBef>
            </a:pPr>
            <a:r>
              <a:rPr sz="1500" dirty="0">
                <a:latin typeface="Tahoma"/>
                <a:cs typeface="Tahoma"/>
              </a:rPr>
              <a:t>Построение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spc="90" dirty="0">
                <a:latin typeface="Tahoma"/>
                <a:cs typeface="Tahoma"/>
              </a:rPr>
              <a:t>DOM</a:t>
            </a:r>
            <a:r>
              <a:rPr sz="1500" spc="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инкрементально.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Ответ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в</a:t>
            </a:r>
            <a:r>
              <a:rPr sz="1500" spc="50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виде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70" dirty="0">
                <a:latin typeface="Tahoma"/>
                <a:cs typeface="Tahoma"/>
              </a:rPr>
              <a:t>HTML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превращается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</a:t>
            </a:r>
            <a:r>
              <a:rPr sz="1500" spc="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токены,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которые </a:t>
            </a:r>
            <a:r>
              <a:rPr sz="1500" dirty="0">
                <a:latin typeface="Tahoma"/>
                <a:cs typeface="Tahoma"/>
              </a:rPr>
              <a:t>превращаются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узлы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(nodes),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которые </a:t>
            </a:r>
            <a:r>
              <a:rPr sz="1500" dirty="0">
                <a:latin typeface="Tahoma"/>
                <a:cs typeface="Tahoma"/>
              </a:rPr>
              <a:t>формируют</a:t>
            </a:r>
            <a:r>
              <a:rPr sz="1500" spc="40" dirty="0">
                <a:latin typeface="Tahoma"/>
                <a:cs typeface="Tahoma"/>
              </a:rPr>
              <a:t> </a:t>
            </a:r>
            <a:r>
              <a:rPr sz="1500" spc="90" dirty="0">
                <a:latin typeface="Tahoma"/>
                <a:cs typeface="Tahoma"/>
              </a:rPr>
              <a:t>DOM</a:t>
            </a:r>
            <a:r>
              <a:rPr sz="1500" spc="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дерево.</a:t>
            </a:r>
            <a:r>
              <a:rPr sz="1500" spc="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Простейший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узел </a:t>
            </a:r>
            <a:r>
              <a:rPr sz="1500" dirty="0">
                <a:latin typeface="Tahoma"/>
                <a:cs typeface="Tahoma"/>
              </a:rPr>
              <a:t>начинается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с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startTag-токена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и </a:t>
            </a:r>
            <a:r>
              <a:rPr sz="1500" spc="-10" dirty="0">
                <a:latin typeface="Tahoma"/>
                <a:cs typeface="Tahoma"/>
              </a:rPr>
              <a:t>заканчивается </a:t>
            </a:r>
            <a:r>
              <a:rPr sz="1500" dirty="0">
                <a:latin typeface="Tahoma"/>
                <a:cs typeface="Tahoma"/>
              </a:rPr>
              <a:t>токеном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endTag.</a:t>
            </a:r>
            <a:r>
              <a:rPr sz="1500" spc="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Узлы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содержат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всю </a:t>
            </a:r>
            <a:r>
              <a:rPr sz="1500" dirty="0">
                <a:latin typeface="Tahoma"/>
                <a:cs typeface="Tahoma"/>
              </a:rPr>
              <a:t>необходимую</a:t>
            </a:r>
            <a:r>
              <a:rPr sz="1500" spc="1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информацию</a:t>
            </a:r>
            <a:r>
              <a:rPr sz="1500" spc="1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об</a:t>
            </a:r>
            <a:r>
              <a:rPr sz="1500" spc="1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HTML-</a:t>
            </a:r>
            <a:r>
              <a:rPr sz="1500" spc="-10" dirty="0">
                <a:latin typeface="Tahoma"/>
                <a:cs typeface="Tahoma"/>
              </a:rPr>
              <a:t>элементе, </a:t>
            </a:r>
            <a:r>
              <a:rPr sz="1500" dirty="0">
                <a:latin typeface="Tahoma"/>
                <a:cs typeface="Tahoma"/>
              </a:rPr>
              <a:t>соответствующем</a:t>
            </a:r>
            <a:r>
              <a:rPr sz="1500" spc="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этому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узлу.</a:t>
            </a:r>
            <a:r>
              <a:rPr sz="1500" spc="9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Узлы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(nodes) </a:t>
            </a:r>
            <a:r>
              <a:rPr sz="1500" dirty="0">
                <a:latin typeface="Tahoma"/>
                <a:cs typeface="Tahoma"/>
              </a:rPr>
              <a:t>связаны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60" dirty="0">
                <a:latin typeface="Tahoma"/>
                <a:cs typeface="Tahoma"/>
              </a:rPr>
              <a:t>с </a:t>
            </a:r>
            <a:r>
              <a:rPr sz="1500" dirty="0">
                <a:latin typeface="Tahoma"/>
                <a:cs typeface="Tahoma"/>
              </a:rPr>
              <a:t>Render</a:t>
            </a:r>
            <a:r>
              <a:rPr sz="1500" spc="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Tree</a:t>
            </a:r>
            <a:r>
              <a:rPr sz="1500" spc="40" dirty="0">
                <a:latin typeface="Tahoma"/>
                <a:cs typeface="Tahoma"/>
              </a:rPr>
              <a:t> </a:t>
            </a:r>
            <a:r>
              <a:rPr sz="1500" spc="60" dirty="0">
                <a:latin typeface="Tahoma"/>
                <a:cs typeface="Tahoma"/>
              </a:rPr>
              <a:t>с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помощью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иерархии </a:t>
            </a:r>
            <a:r>
              <a:rPr sz="1500" spc="-20" dirty="0">
                <a:latin typeface="Tahoma"/>
                <a:cs typeface="Tahoma"/>
              </a:rPr>
              <a:t>токенов: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если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какой-</a:t>
            </a:r>
            <a:r>
              <a:rPr sz="1500" dirty="0">
                <a:latin typeface="Tahoma"/>
                <a:cs typeface="Tahoma"/>
              </a:rPr>
              <a:t>то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набор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startTag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и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endTag- </a:t>
            </a:r>
            <a:r>
              <a:rPr sz="1500" dirty="0">
                <a:latin typeface="Tahoma"/>
                <a:cs typeface="Tahoma"/>
              </a:rPr>
              <a:t>токенов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появляется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между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уже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существующим </a:t>
            </a:r>
            <a:r>
              <a:rPr sz="1500" dirty="0">
                <a:latin typeface="Tahoma"/>
                <a:cs typeface="Tahoma"/>
              </a:rPr>
              <a:t>набором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токенов,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мы </a:t>
            </a:r>
            <a:r>
              <a:rPr sz="1500" dirty="0">
                <a:latin typeface="Tahoma"/>
                <a:cs typeface="Tahoma"/>
              </a:rPr>
              <a:t>получаем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узел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(node) </a:t>
            </a:r>
            <a:r>
              <a:rPr sz="1500" dirty="0">
                <a:latin typeface="Tahoma"/>
                <a:cs typeface="Tahoma"/>
              </a:rPr>
              <a:t>внутри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узла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(node),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то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есть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получаем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иерархию </a:t>
            </a:r>
            <a:r>
              <a:rPr sz="1500" dirty="0">
                <a:latin typeface="Tahoma"/>
                <a:cs typeface="Tahoma"/>
              </a:rPr>
              <a:t>дерева</a:t>
            </a:r>
            <a:r>
              <a:rPr sz="1500" spc="12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DOM.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2791" y="1018031"/>
            <a:ext cx="3972677" cy="35127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75" dirty="0"/>
              <a:t>CSS</a:t>
            </a:r>
            <a:r>
              <a:rPr spc="-85" dirty="0"/>
              <a:t> </a:t>
            </a:r>
            <a:r>
              <a:rPr dirty="0"/>
              <a:t>Object</a:t>
            </a:r>
            <a:r>
              <a:rPr spc="-100" dirty="0"/>
              <a:t> </a:t>
            </a:r>
            <a:r>
              <a:rPr spc="-2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13865"/>
            <a:ext cx="3905250" cy="308038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200"/>
              </a:spcBef>
            </a:pPr>
            <a:r>
              <a:rPr sz="1500" spc="90" dirty="0">
                <a:latin typeface="Tahoma"/>
                <a:cs typeface="Tahoma"/>
              </a:rPr>
              <a:t>DOM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несёт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себе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всё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содержимое </a:t>
            </a:r>
            <a:r>
              <a:rPr sz="1500" dirty="0">
                <a:latin typeface="Tahoma"/>
                <a:cs typeface="Tahoma"/>
              </a:rPr>
              <a:t>страницы.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140" dirty="0">
                <a:latin typeface="Tahoma"/>
                <a:cs typeface="Tahoma"/>
              </a:rPr>
              <a:t>CSSOM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содержит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все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стили </a:t>
            </a:r>
            <a:r>
              <a:rPr sz="1500" dirty="0">
                <a:latin typeface="Tahoma"/>
                <a:cs typeface="Tahoma"/>
              </a:rPr>
              <a:t>страницы,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то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есть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данные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о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том, </a:t>
            </a:r>
            <a:r>
              <a:rPr sz="1500" spc="-25" dirty="0">
                <a:latin typeface="Tahoma"/>
                <a:cs typeface="Tahoma"/>
              </a:rPr>
              <a:t>как </a:t>
            </a:r>
            <a:r>
              <a:rPr sz="1500" dirty="0">
                <a:latin typeface="Tahoma"/>
                <a:cs typeface="Tahoma"/>
              </a:rPr>
              <a:t>стилизовать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60" dirty="0">
                <a:latin typeface="Tahoma"/>
                <a:cs typeface="Tahoma"/>
              </a:rPr>
              <a:t>DOM.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140" dirty="0">
                <a:latin typeface="Tahoma"/>
                <a:cs typeface="Tahoma"/>
              </a:rPr>
              <a:t>CSSOM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похож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на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DOM, </a:t>
            </a:r>
            <a:r>
              <a:rPr sz="1500" dirty="0">
                <a:latin typeface="Tahoma"/>
                <a:cs typeface="Tahoma"/>
              </a:rPr>
              <a:t>но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всё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же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отличается.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Если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формирование </a:t>
            </a:r>
            <a:r>
              <a:rPr sz="1500" spc="90" dirty="0">
                <a:latin typeface="Tahoma"/>
                <a:cs typeface="Tahoma"/>
              </a:rPr>
              <a:t>DOM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инкрементально,</a:t>
            </a:r>
            <a:r>
              <a:rPr sz="1500" spc="-114" dirty="0">
                <a:latin typeface="Tahoma"/>
                <a:cs typeface="Tahoma"/>
              </a:rPr>
              <a:t> </a:t>
            </a:r>
            <a:r>
              <a:rPr sz="1500" spc="140" dirty="0">
                <a:latin typeface="Tahoma"/>
                <a:cs typeface="Tahoma"/>
              </a:rPr>
              <a:t>CSSOM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-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нет.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145" dirty="0">
                <a:latin typeface="Tahoma"/>
                <a:cs typeface="Tahoma"/>
              </a:rPr>
              <a:t>CSS </a:t>
            </a:r>
            <a:r>
              <a:rPr sz="1500" dirty="0">
                <a:latin typeface="Tahoma"/>
                <a:cs typeface="Tahoma"/>
              </a:rPr>
              <a:t>блокирует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рендер: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браузер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блокирует </a:t>
            </a:r>
            <a:r>
              <a:rPr sz="1500" dirty="0">
                <a:latin typeface="Tahoma"/>
                <a:cs typeface="Tahoma"/>
              </a:rPr>
              <a:t>рендеринг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страницы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до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тех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пор,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пока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не </a:t>
            </a:r>
            <a:r>
              <a:rPr sz="1500" dirty="0">
                <a:latin typeface="Tahoma"/>
                <a:cs typeface="Tahoma"/>
              </a:rPr>
              <a:t>получит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и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не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обработает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все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114" dirty="0">
                <a:latin typeface="Tahoma"/>
                <a:cs typeface="Tahoma"/>
              </a:rPr>
              <a:t>CSS-</a:t>
            </a:r>
            <a:r>
              <a:rPr sz="1500" spc="-10" dirty="0">
                <a:latin typeface="Tahoma"/>
                <a:cs typeface="Tahoma"/>
              </a:rPr>
              <a:t>правила. </a:t>
            </a:r>
            <a:r>
              <a:rPr sz="1500" spc="165" dirty="0">
                <a:latin typeface="Tahoma"/>
                <a:cs typeface="Tahoma"/>
              </a:rPr>
              <a:t>CSS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блокирует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рендеринг,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потому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что </a:t>
            </a:r>
            <a:r>
              <a:rPr sz="1500" dirty="0">
                <a:latin typeface="Tahoma"/>
                <a:cs typeface="Tahoma"/>
              </a:rPr>
              <a:t>правила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могут</a:t>
            </a:r>
            <a:r>
              <a:rPr sz="1500" spc="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быть перезаписаны,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а </a:t>
            </a:r>
            <a:r>
              <a:rPr sz="1500" spc="-10" dirty="0">
                <a:latin typeface="Tahoma"/>
                <a:cs typeface="Tahoma"/>
              </a:rPr>
              <a:t>значит,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необходимо</a:t>
            </a:r>
            <a:r>
              <a:rPr sz="1500" spc="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дождаться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построения </a:t>
            </a:r>
            <a:r>
              <a:rPr sz="1500" spc="114" dirty="0">
                <a:latin typeface="Tahoma"/>
                <a:cs typeface="Tahoma"/>
              </a:rPr>
              <a:t>CSSOM,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чтобы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убедиться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в</a:t>
            </a:r>
            <a:r>
              <a:rPr sz="1500" spc="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отсутствии </a:t>
            </a:r>
            <a:r>
              <a:rPr sz="1500" dirty="0">
                <a:latin typeface="Tahoma"/>
                <a:cs typeface="Tahoma"/>
              </a:rPr>
              <a:t>дополнительных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переопределений.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522" y="1295238"/>
            <a:ext cx="3889329" cy="29858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Дерево</a:t>
            </a:r>
            <a:r>
              <a:rPr spc="45" dirty="0"/>
              <a:t> </a:t>
            </a:r>
            <a:r>
              <a:rPr dirty="0"/>
              <a:t>рендера</a:t>
            </a:r>
            <a:r>
              <a:rPr spc="25" dirty="0"/>
              <a:t> </a:t>
            </a:r>
            <a:r>
              <a:rPr dirty="0"/>
              <a:t>(Render</a:t>
            </a:r>
            <a:r>
              <a:rPr spc="60" dirty="0"/>
              <a:t> </a:t>
            </a:r>
            <a:r>
              <a:rPr spc="-10" dirty="0"/>
              <a:t>Tree)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16913"/>
            <a:ext cx="4001770" cy="322961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ct val="95000"/>
              </a:lnSpc>
              <a:spcBef>
                <a:spcPts val="175"/>
              </a:spcBef>
            </a:pPr>
            <a:r>
              <a:rPr sz="1400" dirty="0">
                <a:latin typeface="Tahoma"/>
                <a:cs typeface="Tahoma"/>
              </a:rPr>
              <a:t>Дерево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рендера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охватывает</a:t>
            </a:r>
            <a:r>
              <a:rPr sz="1400" spc="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сразу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и </a:t>
            </a:r>
            <a:r>
              <a:rPr sz="1400" dirty="0">
                <a:latin typeface="Tahoma"/>
                <a:cs typeface="Tahoma"/>
              </a:rPr>
              <a:t>содержимое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страницы,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стили: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это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место,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где </a:t>
            </a:r>
            <a:r>
              <a:rPr sz="1400" spc="70" dirty="0">
                <a:latin typeface="Tahoma"/>
                <a:cs typeface="Tahoma"/>
              </a:rPr>
              <a:t>DOM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125" dirty="0">
                <a:latin typeface="Tahoma"/>
                <a:cs typeface="Tahoma"/>
              </a:rPr>
              <a:t>CSSOM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деревья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комбинируются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в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одно </a:t>
            </a:r>
            <a:r>
              <a:rPr sz="1400" dirty="0">
                <a:latin typeface="Tahoma"/>
                <a:cs typeface="Tahoma"/>
              </a:rPr>
              <a:t>дерево.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Для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построения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дерева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рендера </a:t>
            </a:r>
            <a:r>
              <a:rPr sz="1400" dirty="0">
                <a:latin typeface="Tahoma"/>
                <a:cs typeface="Tahoma"/>
              </a:rPr>
              <a:t>браузер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проверяет </a:t>
            </a:r>
            <a:r>
              <a:rPr sz="1400" spc="-20" dirty="0">
                <a:latin typeface="Tahoma"/>
                <a:cs typeface="Tahoma"/>
              </a:rPr>
              <a:t>каждый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узел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(node)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DOM, </a:t>
            </a:r>
            <a:r>
              <a:rPr sz="1400" dirty="0">
                <a:latin typeface="Tahoma"/>
                <a:cs typeface="Tahoma"/>
              </a:rPr>
              <a:t>начиная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от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корневого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(root)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определяет,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какие </a:t>
            </a:r>
            <a:r>
              <a:rPr sz="1400" spc="100" dirty="0">
                <a:latin typeface="Tahoma"/>
                <a:cs typeface="Tahoma"/>
              </a:rPr>
              <a:t>CSS-</a:t>
            </a:r>
            <a:r>
              <a:rPr sz="1400" dirty="0">
                <a:latin typeface="Tahoma"/>
                <a:cs typeface="Tahoma"/>
              </a:rPr>
              <a:t>правила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нужно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присоединить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00" dirty="0">
                <a:latin typeface="Tahoma"/>
                <a:cs typeface="Tahoma"/>
              </a:rPr>
              <a:t>к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этому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узлу.</a:t>
            </a:r>
            <a:endParaRPr sz="1400">
              <a:latin typeface="Tahoma"/>
              <a:cs typeface="Tahoma"/>
            </a:endParaRPr>
          </a:p>
          <a:p>
            <a:pPr marL="12700" marR="31750">
              <a:lnSpc>
                <a:spcPct val="94900"/>
              </a:lnSpc>
              <a:spcBef>
                <a:spcPts val="1215"/>
              </a:spcBef>
            </a:pPr>
            <a:r>
              <a:rPr sz="1400" dirty="0">
                <a:latin typeface="Tahoma"/>
                <a:cs typeface="Tahoma"/>
              </a:rPr>
              <a:t>Дерево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рендера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охватывает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только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видимое </a:t>
            </a:r>
            <a:r>
              <a:rPr sz="1400" dirty="0">
                <a:latin typeface="Tahoma"/>
                <a:cs typeface="Tahoma"/>
              </a:rPr>
              <a:t>содержимое.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Например,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секция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head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(в </a:t>
            </a:r>
            <a:r>
              <a:rPr sz="1400" dirty="0">
                <a:latin typeface="Tahoma"/>
                <a:cs typeface="Tahoma"/>
              </a:rPr>
              <a:t>основном)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не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содержит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никакой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видимой </a:t>
            </a:r>
            <a:r>
              <a:rPr sz="1400" dirty="0">
                <a:latin typeface="Tahoma"/>
                <a:cs typeface="Tahoma"/>
              </a:rPr>
              <a:t>информации,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а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потому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может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не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включаться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в </a:t>
            </a:r>
            <a:r>
              <a:rPr sz="1400" dirty="0">
                <a:latin typeface="Tahoma"/>
                <a:cs typeface="Tahoma"/>
              </a:rPr>
              <a:t>дерево.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Кроме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того,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если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у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какого-</a:t>
            </a:r>
            <a:r>
              <a:rPr sz="1400" dirty="0">
                <a:latin typeface="Tahoma"/>
                <a:cs typeface="Tahoma"/>
              </a:rPr>
              <a:t>то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узла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стоит </a:t>
            </a:r>
            <a:r>
              <a:rPr sz="1400" dirty="0">
                <a:latin typeface="Tahoma"/>
                <a:cs typeface="Tahoma"/>
              </a:rPr>
              <a:t>свойство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display: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none,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оно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так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же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не </a:t>
            </a:r>
            <a:r>
              <a:rPr sz="1400" dirty="0">
                <a:latin typeface="Tahoma"/>
                <a:cs typeface="Tahoma"/>
              </a:rPr>
              <a:t>включается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в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дерево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65" dirty="0">
                <a:latin typeface="Tahoma"/>
                <a:cs typeface="Tahoma"/>
              </a:rPr>
              <a:t>(как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потомки </a:t>
            </a:r>
            <a:r>
              <a:rPr sz="1400" spc="-20" dirty="0">
                <a:latin typeface="Tahoma"/>
                <a:cs typeface="Tahoma"/>
              </a:rPr>
              <a:t>этого</a:t>
            </a:r>
            <a:r>
              <a:rPr sz="1400" spc="5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узла).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1152143"/>
            <a:ext cx="4041591" cy="32841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Компоновка</a:t>
            </a:r>
            <a:r>
              <a:rPr spc="-100" dirty="0"/>
              <a:t> </a:t>
            </a:r>
            <a:r>
              <a:rPr spc="-35" dirty="0"/>
              <a:t>(layout)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19962"/>
            <a:ext cx="8349615" cy="3310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30" dirty="0">
                <a:latin typeface="Tahoma"/>
                <a:cs typeface="Tahoma"/>
              </a:rPr>
              <a:t>В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тот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момент,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когда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дерево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рендера</a:t>
            </a:r>
            <a:r>
              <a:rPr sz="1700" spc="2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(render </a:t>
            </a:r>
            <a:r>
              <a:rPr sz="1700" spc="-25" dirty="0">
                <a:latin typeface="Tahoma"/>
                <a:cs typeface="Tahoma"/>
              </a:rPr>
              <a:t>tree)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построено,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становится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Tahoma"/>
                <a:cs typeface="Tahoma"/>
              </a:rPr>
              <a:t>возможным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этап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spc="-20" dirty="0">
                <a:latin typeface="Tahoma"/>
                <a:cs typeface="Tahoma"/>
              </a:rPr>
              <a:t>компоновки</a:t>
            </a:r>
            <a:r>
              <a:rPr sz="1700" spc="4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(layout).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Arial"/>
                <a:cs typeface="Arial"/>
              </a:rPr>
              <a:t>Layout</a:t>
            </a:r>
            <a:r>
              <a:rPr sz="1700" b="1" spc="65" dirty="0">
                <a:latin typeface="Arial"/>
                <a:cs typeface="Arial"/>
              </a:rPr>
              <a:t> </a:t>
            </a:r>
            <a:r>
              <a:rPr sz="1700" spc="135" dirty="0">
                <a:latin typeface="Tahoma"/>
                <a:cs typeface="Tahoma"/>
              </a:rPr>
              <a:t>—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это</a:t>
            </a:r>
            <a:r>
              <a:rPr sz="1700" spc="-9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рекурсивный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процесс</a:t>
            </a:r>
            <a:r>
              <a:rPr sz="1700" spc="-4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определения</a:t>
            </a:r>
            <a:r>
              <a:rPr sz="1700" spc="3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положения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</a:t>
            </a:r>
            <a:r>
              <a:rPr sz="1700" spc="-7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размеров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05100"/>
              </a:lnSpc>
              <a:spcBef>
                <a:spcPts val="15"/>
              </a:spcBef>
            </a:pPr>
            <a:r>
              <a:rPr sz="1700" dirty="0">
                <a:latin typeface="Tahoma"/>
                <a:cs typeface="Tahoma"/>
              </a:rPr>
              <a:t>элементов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из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Render</a:t>
            </a:r>
            <a:r>
              <a:rPr sz="1700" spc="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Tree. Он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начинается от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корневого</a:t>
            </a:r>
            <a:r>
              <a:rPr sz="1700" spc="6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Render</a:t>
            </a:r>
            <a:r>
              <a:rPr sz="1700" spc="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Object, </a:t>
            </a:r>
            <a:r>
              <a:rPr sz="1700" spc="-10" dirty="0">
                <a:latin typeface="Tahoma"/>
                <a:cs typeface="Tahoma"/>
              </a:rPr>
              <a:t>которым </a:t>
            </a:r>
            <a:r>
              <a:rPr sz="1700" dirty="0">
                <a:latin typeface="Tahoma"/>
                <a:cs typeface="Tahoma"/>
              </a:rPr>
              <a:t>является,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проходит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рекурсивно</a:t>
            </a:r>
            <a:r>
              <a:rPr sz="1700" spc="-4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вниз</a:t>
            </a:r>
            <a:r>
              <a:rPr sz="1700" spc="-6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части</a:t>
            </a:r>
            <a:r>
              <a:rPr sz="1700" spc="-9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или</a:t>
            </a:r>
            <a:r>
              <a:rPr sz="1700" spc="-7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всей</a:t>
            </a:r>
            <a:r>
              <a:rPr sz="1700" spc="-6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иерархии </a:t>
            </a:r>
            <a:r>
              <a:rPr sz="1700" spc="-10" dirty="0">
                <a:latin typeface="Tahoma"/>
                <a:cs typeface="Tahoma"/>
              </a:rPr>
              <a:t>дерева </a:t>
            </a:r>
            <a:r>
              <a:rPr sz="1700" dirty="0">
                <a:latin typeface="Tahoma"/>
                <a:cs typeface="Tahoma"/>
              </a:rPr>
              <a:t>высчитывая</a:t>
            </a:r>
            <a:r>
              <a:rPr sz="1700" spc="-9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геометрические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размеры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дочерних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render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object'ов.</a:t>
            </a:r>
            <a:r>
              <a:rPr sz="1700" spc="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Корневой</a:t>
            </a:r>
            <a:r>
              <a:rPr sz="1700" spc="50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элемент</a:t>
            </a:r>
            <a:r>
              <a:rPr sz="1700" spc="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имеет</a:t>
            </a:r>
            <a:r>
              <a:rPr sz="1700" spc="3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позицию</a:t>
            </a:r>
            <a:r>
              <a:rPr sz="1700" spc="-20" dirty="0">
                <a:latin typeface="Tahoma"/>
                <a:cs typeface="Tahoma"/>
              </a:rPr>
              <a:t> (0,0)</a:t>
            </a:r>
            <a:r>
              <a:rPr sz="1700" spc="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 его</a:t>
            </a:r>
            <a:r>
              <a:rPr sz="1700" spc="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размеры</a:t>
            </a:r>
            <a:r>
              <a:rPr sz="1700" spc="7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равны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размерам</a:t>
            </a:r>
            <a:r>
              <a:rPr sz="1700" spc="8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видимой части </a:t>
            </a:r>
            <a:r>
              <a:rPr sz="1700" spc="-10" dirty="0">
                <a:latin typeface="Tahoma"/>
                <a:cs typeface="Tahoma"/>
              </a:rPr>
              <a:t>окна, </a:t>
            </a:r>
            <a:r>
              <a:rPr sz="1700" dirty="0">
                <a:latin typeface="Tahoma"/>
                <a:cs typeface="Tahoma"/>
              </a:rPr>
              <a:t>то</a:t>
            </a:r>
            <a:r>
              <a:rPr sz="1700" spc="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есть</a:t>
            </a:r>
            <a:r>
              <a:rPr sz="1700" spc="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размеру</a:t>
            </a:r>
            <a:r>
              <a:rPr sz="1700" spc="8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viewport'a.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700" dirty="0">
                <a:latin typeface="Tahoma"/>
                <a:cs typeface="Tahoma"/>
              </a:rPr>
              <a:t>К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spc="-20" dirty="0">
                <a:latin typeface="Tahoma"/>
                <a:cs typeface="Tahoma"/>
              </a:rPr>
              <a:t>концу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процесса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layout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каждый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render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object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имеет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свое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положение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и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размеры.</a:t>
            </a:r>
            <a:endParaRPr sz="1700">
              <a:latin typeface="Tahoma"/>
              <a:cs typeface="Tahoma"/>
            </a:endParaRPr>
          </a:p>
          <a:p>
            <a:pPr marL="12700" marR="1057275">
              <a:lnSpc>
                <a:spcPct val="104800"/>
              </a:lnSpc>
              <a:spcBef>
                <a:spcPts val="1200"/>
              </a:spcBef>
            </a:pPr>
            <a:r>
              <a:rPr sz="1700" dirty="0">
                <a:latin typeface="Tahoma"/>
                <a:cs typeface="Tahoma"/>
              </a:rPr>
              <a:t>Подводя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промежуточный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spc="-40" dirty="0">
                <a:latin typeface="Tahoma"/>
                <a:cs typeface="Tahoma"/>
              </a:rPr>
              <a:t>итог: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b="1" dirty="0">
                <a:latin typeface="Arial"/>
                <a:cs typeface="Arial"/>
              </a:rPr>
              <a:t>браузер</a:t>
            </a:r>
            <a:r>
              <a:rPr sz="1700" b="1" spc="3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знает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что, как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и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где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рисовать</a:t>
            </a:r>
            <a:r>
              <a:rPr sz="1700" spc="-10" dirty="0">
                <a:latin typeface="Tahoma"/>
                <a:cs typeface="Tahoma"/>
              </a:rPr>
              <a:t>. </a:t>
            </a:r>
            <a:r>
              <a:rPr sz="1700" dirty="0">
                <a:latin typeface="Tahoma"/>
                <a:cs typeface="Tahoma"/>
              </a:rPr>
              <a:t>Следовательно</a:t>
            </a:r>
            <a:r>
              <a:rPr sz="1700" spc="155" dirty="0">
                <a:latin typeface="Tahoma"/>
                <a:cs typeface="Tahoma"/>
              </a:rPr>
              <a:t> </a:t>
            </a:r>
            <a:r>
              <a:rPr sz="1700" spc="135" dirty="0">
                <a:latin typeface="Tahoma"/>
                <a:cs typeface="Tahoma"/>
              </a:rPr>
              <a:t>—</a:t>
            </a:r>
            <a:r>
              <a:rPr sz="1700" spc="10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осталось</a:t>
            </a:r>
            <a:r>
              <a:rPr sz="1700" spc="7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только</a:t>
            </a:r>
            <a:r>
              <a:rPr sz="1700" spc="11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нарисовать.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Отрисовка</a:t>
            </a:r>
            <a:r>
              <a:rPr spc="50" dirty="0"/>
              <a:t> </a:t>
            </a:r>
            <a:r>
              <a:rPr spc="-40" dirty="0"/>
              <a:t>(paint)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8213725" cy="25469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dirty="0">
                <a:latin typeface="Tahoma"/>
                <a:cs typeface="Tahoma"/>
              </a:rPr>
              <a:t>Последний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этап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нашем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списке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b="1" dirty="0">
                <a:latin typeface="Arial"/>
                <a:cs typeface="Arial"/>
              </a:rPr>
              <a:t>отрисовка</a:t>
            </a:r>
            <a:r>
              <a:rPr sz="1800" b="1" spc="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(paint)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пикселей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экране. </a:t>
            </a:r>
            <a:r>
              <a:rPr sz="1800" dirty="0">
                <a:latin typeface="Tahoma"/>
                <a:cs typeface="Tahoma"/>
              </a:rPr>
              <a:t>Когда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дерево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рендера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(render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tree)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создано,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компоновка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(layout)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произошла, </a:t>
            </a:r>
            <a:r>
              <a:rPr sz="1800" dirty="0">
                <a:latin typeface="Tahoma"/>
                <a:cs typeface="Tahoma"/>
              </a:rPr>
              <a:t>пиксели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могут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быть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отрисованы.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При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первичной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загрузке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документа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(onload) </a:t>
            </a:r>
            <a:r>
              <a:rPr sz="1800" dirty="0">
                <a:latin typeface="Tahoma"/>
                <a:cs typeface="Tahoma"/>
              </a:rPr>
              <a:t>весь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экран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будет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отрисован.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После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этого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будут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перерисовываться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только </a:t>
            </a:r>
            <a:r>
              <a:rPr sz="1800" dirty="0">
                <a:latin typeface="Tahoma"/>
                <a:cs typeface="Tahoma"/>
              </a:rPr>
              <a:t>необходимые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20" dirty="0">
                <a:latin typeface="Tahoma"/>
                <a:cs typeface="Tahoma"/>
              </a:rPr>
              <a:t>к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обновлению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части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экрана,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так </a:t>
            </a:r>
            <a:r>
              <a:rPr sz="1800" spc="-65" dirty="0">
                <a:latin typeface="Tahoma"/>
                <a:cs typeface="Tahoma"/>
              </a:rPr>
              <a:t>как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старается </a:t>
            </a:r>
            <a:r>
              <a:rPr sz="1800" dirty="0">
                <a:latin typeface="Tahoma"/>
                <a:cs typeface="Tahoma"/>
              </a:rPr>
              <a:t>оптимизировать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процесс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отрисовки,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избегая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ненужной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работы.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Так, </a:t>
            </a:r>
            <a:r>
              <a:rPr sz="1800" dirty="0">
                <a:latin typeface="Tahoma"/>
                <a:cs typeface="Tahoma"/>
              </a:rPr>
              <a:t>если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у </a:t>
            </a:r>
            <a:r>
              <a:rPr sz="1800" dirty="0">
                <a:latin typeface="Tahoma"/>
                <a:cs typeface="Tahoma"/>
              </a:rPr>
              <a:t>вас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документе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есть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два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элемента,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перерисовываться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будет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только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тот, </a:t>
            </a:r>
            <a:r>
              <a:rPr sz="1800" spc="-10" dirty="0">
                <a:latin typeface="Tahoma"/>
                <a:cs typeface="Tahoma"/>
              </a:rPr>
              <a:t>который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вы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изменили.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sz="3600" spc="-25" dirty="0"/>
              <a:t>Клиент-</a:t>
            </a:r>
            <a:r>
              <a:rPr sz="3600" dirty="0"/>
              <a:t>серверная</a:t>
            </a:r>
            <a:r>
              <a:rPr sz="3600" spc="340" dirty="0"/>
              <a:t> </a:t>
            </a:r>
            <a:r>
              <a:rPr sz="3600" spc="75" dirty="0"/>
              <a:t>модель</a:t>
            </a:r>
            <a:endParaRPr sz="3600"/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585858"/>
                </a:solidFill>
              </a:rPr>
              <a:t>Подробнее</a:t>
            </a:r>
            <a:r>
              <a:rPr sz="1800" spc="-20" dirty="0">
                <a:solidFill>
                  <a:srgbClr val="585858"/>
                </a:solidFill>
              </a:rPr>
              <a:t> </a:t>
            </a:r>
            <a:r>
              <a:rPr sz="1800" spc="-35" dirty="0">
                <a:solidFill>
                  <a:srgbClr val="585858"/>
                </a:solidFill>
              </a:rPr>
              <a:t>тут:</a:t>
            </a:r>
            <a:r>
              <a:rPr sz="1800" spc="70" dirty="0">
                <a:solidFill>
                  <a:srgbClr val="585858"/>
                </a:solidFill>
              </a:rPr>
              <a:t> </a:t>
            </a:r>
            <a:r>
              <a:rPr sz="1800" spc="-10" dirty="0">
                <a:solidFill>
                  <a:srgbClr val="585858"/>
                </a:solidFill>
              </a:rPr>
              <a:t>https://habr.com/ru/post/495698/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Клиент-</a:t>
            </a:r>
            <a:r>
              <a:rPr spc="-10" dirty="0"/>
              <a:t>сервер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8308975" cy="12846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Клиент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–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серверная модель</a:t>
            </a:r>
            <a:r>
              <a:rPr sz="1800" b="1" spc="75" dirty="0">
                <a:latin typeface="Arial"/>
                <a:cs typeface="Arial"/>
              </a:rPr>
              <a:t> </a:t>
            </a:r>
            <a:r>
              <a:rPr sz="1800" spc="145" dirty="0">
                <a:latin typeface="Tahoma"/>
                <a:cs typeface="Tahoma"/>
              </a:rPr>
              <a:t>—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вычислительная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или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сетевая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архитектура,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в </a:t>
            </a:r>
            <a:r>
              <a:rPr sz="1800" spc="-20" dirty="0">
                <a:latin typeface="Tahoma"/>
                <a:cs typeface="Tahoma"/>
              </a:rPr>
              <a:t>которой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задания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или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сетевая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нагрузка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распределены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между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поставщиками </a:t>
            </a:r>
            <a:r>
              <a:rPr sz="1800" dirty="0">
                <a:latin typeface="Tahoma"/>
                <a:cs typeface="Tahoma"/>
              </a:rPr>
              <a:t>услуг,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называемыми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серверами,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заказчиками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услуг,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называемыми клиентами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Клиент-</a:t>
            </a:r>
            <a:r>
              <a:rPr spc="-10" dirty="0"/>
              <a:t>сервер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832" y="841247"/>
            <a:ext cx="5736336" cy="430377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685"/>
              </a:spcBef>
            </a:pPr>
            <a:r>
              <a:rPr sz="3600" dirty="0"/>
              <a:t>История</a:t>
            </a:r>
            <a:r>
              <a:rPr sz="3600" spc="185" dirty="0"/>
              <a:t> </a:t>
            </a:r>
            <a:r>
              <a:rPr sz="3600" dirty="0"/>
              <a:t>веб-</a:t>
            </a:r>
            <a:r>
              <a:rPr sz="3600" spc="-10" dirty="0"/>
              <a:t>приложения</a:t>
            </a:r>
            <a:endParaRPr sz="3600"/>
          </a:p>
          <a:p>
            <a:pPr marL="1270"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585858"/>
                </a:solidFill>
              </a:rPr>
              <a:t>Подробнее</a:t>
            </a:r>
            <a:r>
              <a:rPr sz="1800" spc="-20" dirty="0">
                <a:solidFill>
                  <a:srgbClr val="585858"/>
                </a:solidFill>
              </a:rPr>
              <a:t> </a:t>
            </a:r>
            <a:r>
              <a:rPr sz="1800" spc="-35" dirty="0">
                <a:solidFill>
                  <a:srgbClr val="585858"/>
                </a:solidFill>
              </a:rPr>
              <a:t>тут:</a:t>
            </a:r>
            <a:r>
              <a:rPr sz="1800" spc="70" dirty="0">
                <a:solidFill>
                  <a:srgbClr val="585858"/>
                </a:solidFill>
              </a:rPr>
              <a:t> </a:t>
            </a:r>
            <a:r>
              <a:rPr sz="1800" spc="-20" dirty="0">
                <a:solidFill>
                  <a:srgbClr val="585858"/>
                </a:solidFill>
              </a:rPr>
              <a:t>нигде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Статические</a:t>
            </a:r>
            <a:r>
              <a:rPr spc="270" dirty="0"/>
              <a:t> </a:t>
            </a:r>
            <a:r>
              <a:rPr dirty="0"/>
              <a:t>веб-</a:t>
            </a:r>
            <a:r>
              <a:rPr spc="-10" dirty="0"/>
              <a:t>страницы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558" y="1744398"/>
            <a:ext cx="8848417" cy="228953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Статические</a:t>
            </a:r>
            <a:r>
              <a:rPr spc="270" dirty="0"/>
              <a:t> </a:t>
            </a:r>
            <a:r>
              <a:rPr dirty="0"/>
              <a:t>веб-</a:t>
            </a:r>
            <a:r>
              <a:rPr spc="-10" dirty="0"/>
              <a:t>страницы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197349"/>
            <a:ext cx="7961630" cy="15036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45"/>
              </a:spcBef>
              <a:buChar char="●"/>
              <a:tabLst>
                <a:tab pos="353695" algn="l"/>
              </a:tabLst>
            </a:pPr>
            <a:r>
              <a:rPr sz="1800" spc="-10" dirty="0">
                <a:latin typeface="Tahoma"/>
                <a:cs typeface="Tahoma"/>
              </a:rPr>
              <a:t>Frontend</a:t>
            </a:r>
            <a:endParaRPr sz="18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32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Отображение</a:t>
            </a:r>
            <a:r>
              <a:rPr sz="1600" spc="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статических</a:t>
            </a:r>
            <a:r>
              <a:rPr sz="1600" spc="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HTML-страниц</a:t>
            </a:r>
            <a:r>
              <a:rPr sz="1600" spc="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(HTML,</a:t>
            </a:r>
            <a:r>
              <a:rPr sz="1600" spc="100" dirty="0">
                <a:latin typeface="Tahoma"/>
                <a:cs typeface="Tahoma"/>
              </a:rPr>
              <a:t> </a:t>
            </a:r>
            <a:r>
              <a:rPr sz="1600" spc="45" dirty="0">
                <a:latin typeface="Tahoma"/>
                <a:cs typeface="Tahoma"/>
              </a:rPr>
              <a:t>CSS);</a:t>
            </a:r>
            <a:endParaRPr sz="16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29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Контент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на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страницах,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переходы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гиперссылкам</a:t>
            </a:r>
            <a:endParaRPr sz="16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280"/>
              </a:spcBef>
              <a:buChar char="●"/>
              <a:tabLst>
                <a:tab pos="353695" algn="l"/>
              </a:tabLst>
            </a:pPr>
            <a:r>
              <a:rPr sz="1800" spc="35" dirty="0">
                <a:latin typeface="Tahoma"/>
                <a:cs typeface="Tahoma"/>
              </a:rPr>
              <a:t>Backend</a:t>
            </a:r>
            <a:endParaRPr sz="18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32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Хранение статических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документов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и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отдача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запросу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протоколу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60" dirty="0">
                <a:latin typeface="Tahoma"/>
                <a:cs typeface="Tahoma"/>
              </a:rPr>
              <a:t>HTTP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Динамические</a:t>
            </a:r>
            <a:r>
              <a:rPr spc="15" dirty="0"/>
              <a:t> </a:t>
            </a:r>
            <a:r>
              <a:rPr dirty="0"/>
              <a:t>веб-</a:t>
            </a:r>
            <a:r>
              <a:rPr spc="-10" dirty="0"/>
              <a:t>сервисы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79" y="1173667"/>
            <a:ext cx="9000976" cy="236800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Динамические</a:t>
            </a:r>
            <a:r>
              <a:rPr spc="15" dirty="0"/>
              <a:t> </a:t>
            </a:r>
            <a:r>
              <a:rPr dirty="0"/>
              <a:t>веб-</a:t>
            </a:r>
            <a:r>
              <a:rPr spc="-10" dirty="0"/>
              <a:t>сервисы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197349"/>
            <a:ext cx="7961630" cy="23456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45"/>
              </a:spcBef>
              <a:buChar char="●"/>
              <a:tabLst>
                <a:tab pos="353695" algn="l"/>
              </a:tabLst>
            </a:pPr>
            <a:r>
              <a:rPr sz="1800" spc="-10" dirty="0">
                <a:latin typeface="Tahoma"/>
                <a:cs typeface="Tahoma"/>
              </a:rPr>
              <a:t>Frontend</a:t>
            </a:r>
            <a:endParaRPr sz="18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32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Отображение</a:t>
            </a:r>
            <a:r>
              <a:rPr sz="1600" spc="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статических</a:t>
            </a:r>
            <a:r>
              <a:rPr sz="1600" spc="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HTML-страниц</a:t>
            </a:r>
            <a:r>
              <a:rPr sz="1600" spc="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(HTML,</a:t>
            </a:r>
            <a:r>
              <a:rPr sz="1600" spc="100" dirty="0">
                <a:latin typeface="Tahoma"/>
                <a:cs typeface="Tahoma"/>
              </a:rPr>
              <a:t> </a:t>
            </a:r>
            <a:r>
              <a:rPr sz="1600" spc="95" dirty="0">
                <a:latin typeface="Tahoma"/>
                <a:cs typeface="Tahoma"/>
              </a:rPr>
              <a:t>CSS)</a:t>
            </a:r>
            <a:endParaRPr sz="16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29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Контент</a:t>
            </a:r>
            <a:r>
              <a:rPr sz="1600" spc="-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на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страницах,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переходы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гиперссылкам</a:t>
            </a:r>
            <a:endParaRPr sz="16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29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Взаимодействие</a:t>
            </a:r>
            <a:r>
              <a:rPr sz="1600" spc="160" dirty="0">
                <a:latin typeface="Tahoma"/>
                <a:cs typeface="Tahoma"/>
              </a:rPr>
              <a:t> </a:t>
            </a:r>
            <a:r>
              <a:rPr sz="1600" spc="65" dirty="0">
                <a:latin typeface="Tahoma"/>
                <a:cs typeface="Tahoma"/>
              </a:rPr>
              <a:t>с</a:t>
            </a:r>
            <a:r>
              <a:rPr sz="1600" spc="19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сервисом</a:t>
            </a:r>
            <a:r>
              <a:rPr sz="1600" spc="1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посредством</a:t>
            </a:r>
            <a:r>
              <a:rPr sz="1600" spc="9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форм</a:t>
            </a:r>
            <a:endParaRPr sz="16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280"/>
              </a:spcBef>
              <a:buChar char="●"/>
              <a:tabLst>
                <a:tab pos="353695" algn="l"/>
              </a:tabLst>
            </a:pPr>
            <a:r>
              <a:rPr sz="1800" spc="-10" dirty="0">
                <a:latin typeface="Tahoma"/>
                <a:cs typeface="Tahoma"/>
              </a:rPr>
              <a:t>Backend</a:t>
            </a:r>
            <a:endParaRPr sz="18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325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Хранение статических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документов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и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отдача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запросу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протоколу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60" dirty="0">
                <a:latin typeface="Tahoma"/>
                <a:cs typeface="Tahoma"/>
              </a:rPr>
              <a:t>HTTP</a:t>
            </a:r>
            <a:endParaRPr sz="16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285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Обработка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пользовательских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запросов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и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генерация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динамических</a:t>
            </a:r>
            <a:r>
              <a:rPr sz="1600" spc="4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страниц</a:t>
            </a:r>
            <a:endParaRPr sz="16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29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Хранение</a:t>
            </a:r>
            <a:r>
              <a:rPr sz="1600" spc="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данных</a:t>
            </a:r>
            <a:r>
              <a:rPr sz="1600" spc="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в</a:t>
            </a:r>
            <a:r>
              <a:rPr sz="1600" spc="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базе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данных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/>
              <a:t>Веб-</a:t>
            </a:r>
            <a:r>
              <a:rPr spc="-10" dirty="0"/>
              <a:t>приложения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0032" y="1215648"/>
            <a:ext cx="5583936" cy="392937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Динамические</a:t>
            </a:r>
            <a:r>
              <a:rPr spc="15" dirty="0"/>
              <a:t> </a:t>
            </a:r>
            <a:r>
              <a:rPr dirty="0"/>
              <a:t>веб-</a:t>
            </a:r>
            <a:r>
              <a:rPr spc="-10" dirty="0"/>
              <a:t>сервисы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197349"/>
            <a:ext cx="7429500" cy="26263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45"/>
              </a:spcBef>
              <a:buChar char="●"/>
              <a:tabLst>
                <a:tab pos="353695" algn="l"/>
              </a:tabLst>
            </a:pPr>
            <a:r>
              <a:rPr sz="1800" spc="-10" dirty="0">
                <a:latin typeface="Tahoma"/>
                <a:cs typeface="Tahoma"/>
              </a:rPr>
              <a:t>Frontend</a:t>
            </a:r>
            <a:endParaRPr sz="18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32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Хранение</a:t>
            </a:r>
            <a:r>
              <a:rPr sz="1600" spc="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и</a:t>
            </a:r>
            <a:r>
              <a:rPr sz="1600" spc="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доступ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-105" dirty="0">
                <a:latin typeface="Tahoma"/>
                <a:cs typeface="Tahoma"/>
              </a:rPr>
              <a:t>к</a:t>
            </a:r>
            <a:r>
              <a:rPr sz="1600" dirty="0">
                <a:latin typeface="Tahoma"/>
                <a:cs typeface="Tahoma"/>
              </a:rPr>
              <a:t> статическому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контенту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(файлы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стилей,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скрипты)</a:t>
            </a:r>
            <a:endParaRPr sz="16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29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Генерация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и отображение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пользовательского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интерфейса</a:t>
            </a:r>
            <a:endParaRPr sz="16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29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Взаимодействие</a:t>
            </a:r>
            <a:r>
              <a:rPr sz="1600" spc="45" dirty="0">
                <a:latin typeface="Tahoma"/>
                <a:cs typeface="Tahoma"/>
              </a:rPr>
              <a:t> </a:t>
            </a:r>
            <a:r>
              <a:rPr sz="1600" spc="65" dirty="0">
                <a:latin typeface="Tahoma"/>
                <a:cs typeface="Tahoma"/>
              </a:rPr>
              <a:t>с </a:t>
            </a:r>
            <a:r>
              <a:rPr sz="1600" dirty="0">
                <a:latin typeface="Tahoma"/>
                <a:cs typeface="Tahoma"/>
              </a:rPr>
              <a:t>пользователем</a:t>
            </a:r>
            <a:r>
              <a:rPr sz="1600" spc="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и</a:t>
            </a:r>
            <a:r>
              <a:rPr sz="1600" spc="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выполнение</a:t>
            </a:r>
            <a:r>
              <a:rPr sz="1600" spc="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запросов</a:t>
            </a:r>
            <a:r>
              <a:rPr sz="1600" spc="35" dirty="0">
                <a:latin typeface="Tahoma"/>
                <a:cs typeface="Tahoma"/>
              </a:rPr>
              <a:t> </a:t>
            </a:r>
            <a:r>
              <a:rPr sz="1600" spc="-110" dirty="0">
                <a:latin typeface="Tahoma"/>
                <a:cs typeface="Tahoma"/>
              </a:rPr>
              <a:t>к</a:t>
            </a:r>
            <a:r>
              <a:rPr sz="1600" spc="7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API</a:t>
            </a:r>
            <a:endParaRPr sz="1600">
              <a:latin typeface="Tahoma"/>
              <a:cs typeface="Tahoma"/>
            </a:endParaRPr>
          </a:p>
          <a:p>
            <a:pPr marL="811530" marR="410209" lvl="1" indent="-329565">
              <a:lnSpc>
                <a:spcPts val="2210"/>
              </a:lnSpc>
              <a:spcBef>
                <a:spcPts val="12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Обновление</a:t>
            </a:r>
            <a:r>
              <a:rPr sz="1600" spc="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пользовательского интерфейса</a:t>
            </a:r>
            <a:r>
              <a:rPr sz="1600" spc="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в</a:t>
            </a:r>
            <a:r>
              <a:rPr sz="1600" spc="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ответ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на</a:t>
            </a:r>
            <a:r>
              <a:rPr sz="1600" spc="6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действия пользователя</a:t>
            </a:r>
            <a:endParaRPr sz="16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160"/>
              </a:spcBef>
              <a:buChar char="●"/>
              <a:tabLst>
                <a:tab pos="353695" algn="l"/>
              </a:tabLst>
            </a:pPr>
            <a:r>
              <a:rPr sz="1800" spc="-10" dirty="0">
                <a:latin typeface="Tahoma"/>
                <a:cs typeface="Tahoma"/>
              </a:rPr>
              <a:t>Backend</a:t>
            </a:r>
            <a:endParaRPr sz="18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32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Реализация</a:t>
            </a:r>
            <a:r>
              <a:rPr sz="1600" spc="7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публичного</a:t>
            </a:r>
            <a:r>
              <a:rPr sz="1600" spc="10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API</a:t>
            </a:r>
            <a:endParaRPr sz="1600">
              <a:latin typeface="Tahoma"/>
              <a:cs typeface="Tahoma"/>
            </a:endParaRPr>
          </a:p>
          <a:p>
            <a:pPr marL="811530" lvl="1" indent="-329565">
              <a:lnSpc>
                <a:spcPct val="100000"/>
              </a:lnSpc>
              <a:spcBef>
                <a:spcPts val="290"/>
              </a:spcBef>
              <a:buAutoNum type="alphaLcPeriod"/>
              <a:tabLst>
                <a:tab pos="811530" algn="l"/>
              </a:tabLst>
            </a:pPr>
            <a:r>
              <a:rPr sz="1600" dirty="0">
                <a:latin typeface="Tahoma"/>
                <a:cs typeface="Tahoma"/>
              </a:rPr>
              <a:t>Хранение</a:t>
            </a:r>
            <a:r>
              <a:rPr sz="1600" spc="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данных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в</a:t>
            </a:r>
            <a:r>
              <a:rPr sz="1600" spc="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базе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данных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и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работа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65" dirty="0">
                <a:latin typeface="Tahoma"/>
                <a:cs typeface="Tahoma"/>
              </a:rPr>
              <a:t>с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ними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0160" y="124966"/>
            <a:ext cx="6583680" cy="48855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685"/>
              </a:spcBef>
            </a:pPr>
            <a:r>
              <a:rPr sz="3600" spc="75" dirty="0"/>
              <a:t>Node</a:t>
            </a:r>
            <a:r>
              <a:rPr sz="3600" spc="-135" dirty="0"/>
              <a:t> </a:t>
            </a:r>
            <a:r>
              <a:rPr sz="3600" dirty="0"/>
              <a:t>&amp;&amp;</a:t>
            </a:r>
            <a:r>
              <a:rPr sz="3600" spc="-145" dirty="0"/>
              <a:t> </a:t>
            </a:r>
            <a:r>
              <a:rPr sz="3600" spc="-25" dirty="0"/>
              <a:t>Npm</a:t>
            </a:r>
            <a:endParaRPr sz="3600"/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585858"/>
                </a:solidFill>
              </a:rPr>
              <a:t>Подробнее</a:t>
            </a:r>
            <a:r>
              <a:rPr sz="1800" spc="-15" dirty="0">
                <a:solidFill>
                  <a:srgbClr val="585858"/>
                </a:solidFill>
              </a:rPr>
              <a:t> </a:t>
            </a:r>
            <a:r>
              <a:rPr sz="1800" dirty="0">
                <a:solidFill>
                  <a:srgbClr val="585858"/>
                </a:solidFill>
              </a:rPr>
              <a:t>тут</a:t>
            </a:r>
            <a:r>
              <a:rPr sz="1800" spc="85" dirty="0">
                <a:solidFill>
                  <a:srgbClr val="585858"/>
                </a:solidFill>
              </a:rPr>
              <a:t> </a:t>
            </a:r>
            <a:r>
              <a:rPr sz="1800" spc="-30" dirty="0">
                <a:solidFill>
                  <a:srgbClr val="585858"/>
                </a:solidFill>
              </a:rPr>
              <a:t>https://nodejs.dev/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Что</a:t>
            </a:r>
            <a:r>
              <a:rPr spc="-80" dirty="0"/>
              <a:t> </a:t>
            </a:r>
            <a:r>
              <a:rPr dirty="0"/>
              <a:t>находится</a:t>
            </a:r>
            <a:r>
              <a:rPr spc="-35" dirty="0"/>
              <a:t> </a:t>
            </a:r>
            <a:r>
              <a:rPr dirty="0"/>
              <a:t>внутри</a:t>
            </a:r>
            <a:r>
              <a:rPr spc="-30" dirty="0"/>
              <a:t> </a:t>
            </a:r>
            <a:r>
              <a:rPr spc="-10" dirty="0"/>
              <a:t>браузера?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Что</a:t>
            </a:r>
            <a:r>
              <a:rPr spc="-80" dirty="0"/>
              <a:t> </a:t>
            </a:r>
            <a:r>
              <a:rPr dirty="0"/>
              <a:t>находится</a:t>
            </a:r>
            <a:r>
              <a:rPr spc="-35" dirty="0"/>
              <a:t> </a:t>
            </a:r>
            <a:r>
              <a:rPr dirty="0"/>
              <a:t>внутри</a:t>
            </a:r>
            <a:r>
              <a:rPr spc="-30" dirty="0"/>
              <a:t> </a:t>
            </a:r>
            <a:r>
              <a:rPr spc="-10" dirty="0"/>
              <a:t>браузера?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6527" y="1121664"/>
            <a:ext cx="6790943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Что</a:t>
            </a:r>
            <a:r>
              <a:rPr spc="-80" dirty="0"/>
              <a:t> </a:t>
            </a:r>
            <a:r>
              <a:rPr dirty="0"/>
              <a:t>находится</a:t>
            </a:r>
            <a:r>
              <a:rPr spc="-35" dirty="0"/>
              <a:t> </a:t>
            </a:r>
            <a:r>
              <a:rPr dirty="0"/>
              <a:t>внутри</a:t>
            </a:r>
            <a:r>
              <a:rPr spc="-30" dirty="0"/>
              <a:t> </a:t>
            </a:r>
            <a:r>
              <a:rPr spc="-10" dirty="0"/>
              <a:t>браузера?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1414" y="1551804"/>
            <a:ext cx="4879166" cy="289762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Ограничения</a:t>
            </a:r>
            <a:r>
              <a:rPr spc="-60" dirty="0"/>
              <a:t> </a:t>
            </a:r>
            <a:r>
              <a:rPr spc="240" dirty="0"/>
              <a:t>JS</a:t>
            </a:r>
            <a:r>
              <a:rPr spc="-105" dirty="0"/>
              <a:t> </a:t>
            </a:r>
            <a:r>
              <a:rPr dirty="0"/>
              <a:t>в</a:t>
            </a:r>
            <a:r>
              <a:rPr spc="-95" dirty="0"/>
              <a:t> </a:t>
            </a:r>
            <a:r>
              <a:rPr spc="-10" dirty="0"/>
              <a:t>браузере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7951470" cy="22332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Нельзя</a:t>
            </a:r>
            <a:r>
              <a:rPr sz="1800" spc="1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взаимодействовать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1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файловой</a:t>
            </a:r>
            <a:r>
              <a:rPr sz="1800" spc="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системой</a:t>
            </a:r>
            <a:endParaRPr sz="1800">
              <a:latin typeface="Tahoma"/>
              <a:cs typeface="Tahoma"/>
            </a:endParaRPr>
          </a:p>
          <a:p>
            <a:pPr marL="354330" marR="35560" indent="-342265">
              <a:lnSpc>
                <a:spcPts val="2500"/>
              </a:lnSpc>
              <a:spcBef>
                <a:spcPts val="110"/>
              </a:spcBef>
              <a:buFont typeface="Times New Roman"/>
              <a:buChar char="●"/>
              <a:tabLst>
                <a:tab pos="354330" algn="l"/>
              </a:tabLst>
            </a:pP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Нет</a:t>
            </a:r>
            <a:r>
              <a:rPr sz="1800" spc="-7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202020"/>
                </a:solidFill>
                <a:latin typeface="Roboto"/>
                <a:cs typeface="Roboto"/>
              </a:rPr>
              <a:t>доступа</a:t>
            </a:r>
            <a:r>
              <a:rPr sz="1800" spc="-4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к</a:t>
            </a:r>
            <a:r>
              <a:rPr sz="1800" spc="-6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сетевым</a:t>
            </a:r>
            <a:r>
              <a:rPr sz="1800" spc="-6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202020"/>
                </a:solidFill>
                <a:latin typeface="Roboto"/>
                <a:cs typeface="Roboto"/>
              </a:rPr>
              <a:t>функциям,</a:t>
            </a:r>
            <a:r>
              <a:rPr sz="1800" spc="-4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кроме</a:t>
            </a:r>
            <a:r>
              <a:rPr sz="1800" spc="-7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того,</a:t>
            </a:r>
            <a:r>
              <a:rPr sz="1800" spc="-8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что</a:t>
            </a:r>
            <a:r>
              <a:rPr sz="1800" spc="-6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202020"/>
                </a:solidFill>
                <a:latin typeface="Roboto"/>
                <a:cs typeface="Roboto"/>
              </a:rPr>
              <a:t>предоставляет</a:t>
            </a:r>
            <a:r>
              <a:rPr sz="1800" spc="-7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202020"/>
                </a:solidFill>
                <a:latin typeface="Roboto"/>
                <a:cs typeface="Roboto"/>
              </a:rPr>
              <a:t>сам </a:t>
            </a:r>
            <a:r>
              <a:rPr sz="1800" spc="-10" dirty="0">
                <a:solidFill>
                  <a:srgbClr val="202020"/>
                </a:solidFill>
                <a:latin typeface="Roboto"/>
                <a:cs typeface="Roboto"/>
              </a:rPr>
              <a:t>браузер</a:t>
            </a:r>
            <a:endParaRPr sz="1800">
              <a:latin typeface="Roboto"/>
              <a:cs typeface="Roboto"/>
            </a:endParaRPr>
          </a:p>
          <a:p>
            <a:pPr marL="353695" indent="-340995">
              <a:lnSpc>
                <a:spcPct val="100000"/>
              </a:lnSpc>
              <a:spcBef>
                <a:spcPts val="170"/>
              </a:spcBef>
              <a:buFont typeface="Times New Roman"/>
              <a:buChar char="●"/>
              <a:tabLst>
                <a:tab pos="353695" algn="l"/>
              </a:tabLst>
            </a:pP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Нет</a:t>
            </a:r>
            <a:r>
              <a:rPr sz="1800" spc="-8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возможности</a:t>
            </a:r>
            <a:r>
              <a:rPr sz="1800" spc="-7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Roboto"/>
                <a:cs typeface="Roboto"/>
              </a:rPr>
              <a:t>организовывать</a:t>
            </a:r>
            <a:r>
              <a:rPr sz="1800" spc="-8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Roboto"/>
                <a:cs typeface="Roboto"/>
              </a:rPr>
              <a:t>многопоточные</a:t>
            </a:r>
            <a:r>
              <a:rPr sz="1800" spc="-10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вычисления.</a:t>
            </a:r>
            <a:r>
              <a:rPr sz="1800" spc="-5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202020"/>
                </a:solidFill>
                <a:latin typeface="Roboto"/>
                <a:cs typeface="Roboto"/>
              </a:rPr>
              <a:t>Есть</a:t>
            </a:r>
            <a:endParaRPr sz="1800">
              <a:latin typeface="Roboto"/>
              <a:cs typeface="Roboto"/>
            </a:endParaRPr>
          </a:p>
          <a:p>
            <a:pPr marL="354330">
              <a:lnSpc>
                <a:spcPct val="100000"/>
              </a:lnSpc>
              <a:spcBef>
                <a:spcPts val="340"/>
              </a:spcBef>
            </a:pPr>
            <a:r>
              <a:rPr sz="1800" spc="-10" dirty="0">
                <a:solidFill>
                  <a:srgbClr val="202020"/>
                </a:solidFill>
                <a:latin typeface="Roboto"/>
                <a:cs typeface="Roboto"/>
              </a:rPr>
              <a:t>воркеры,</a:t>
            </a:r>
            <a:r>
              <a:rPr sz="1800" spc="-3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но</a:t>
            </a:r>
            <a:r>
              <a:rPr sz="1800" spc="-3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они</a:t>
            </a:r>
            <a:r>
              <a:rPr sz="1800" spc="-2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имеют</a:t>
            </a:r>
            <a:r>
              <a:rPr sz="1800" spc="-2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определенные</a:t>
            </a:r>
            <a:r>
              <a:rPr sz="1800" spc="-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Roboto"/>
                <a:cs typeface="Roboto"/>
              </a:rPr>
              <a:t>ограничения</a:t>
            </a:r>
            <a:endParaRPr sz="1800">
              <a:latin typeface="Roboto"/>
              <a:cs typeface="Roboto"/>
            </a:endParaRPr>
          </a:p>
          <a:p>
            <a:pPr marL="353695" indent="-340995">
              <a:lnSpc>
                <a:spcPct val="100000"/>
              </a:lnSpc>
              <a:spcBef>
                <a:spcPts val="315"/>
              </a:spcBef>
              <a:buFont typeface="Times New Roman"/>
              <a:buChar char="●"/>
              <a:tabLst>
                <a:tab pos="353695" algn="l"/>
              </a:tabLst>
            </a:pP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Нельзя</a:t>
            </a:r>
            <a:r>
              <a:rPr sz="1800" spc="-7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202020"/>
                </a:solidFill>
                <a:latin typeface="Roboto"/>
                <a:cs typeface="Roboto"/>
              </a:rPr>
              <a:t>создавать</a:t>
            </a:r>
            <a:r>
              <a:rPr sz="1800" spc="-8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новые</a:t>
            </a:r>
            <a:r>
              <a:rPr sz="1800" spc="-4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процессы</a:t>
            </a:r>
            <a:r>
              <a:rPr sz="1800" spc="-5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/</a:t>
            </a:r>
            <a:r>
              <a:rPr sz="1800" spc="-5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202020"/>
                </a:solidFill>
                <a:latin typeface="Roboto"/>
                <a:cs typeface="Roboto"/>
              </a:rPr>
              <a:t>запускать</a:t>
            </a:r>
            <a:r>
              <a:rPr sz="1800" spc="-5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программы</a:t>
            </a:r>
            <a:r>
              <a:rPr sz="1800" spc="-6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Roboto"/>
                <a:cs typeface="Roboto"/>
              </a:rPr>
              <a:t>(открытие</a:t>
            </a:r>
            <a:endParaRPr sz="1800">
              <a:latin typeface="Roboto"/>
              <a:cs typeface="Roboto"/>
            </a:endParaRPr>
          </a:p>
          <a:p>
            <a:pPr marL="354330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новых</a:t>
            </a:r>
            <a:r>
              <a:rPr sz="1800" spc="-4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вкладок</a:t>
            </a:r>
            <a:r>
              <a:rPr sz="1800" spc="-6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202020"/>
                </a:solidFill>
                <a:latin typeface="Roboto"/>
                <a:cs typeface="Roboto"/>
              </a:rPr>
              <a:t>не</a:t>
            </a:r>
            <a:r>
              <a:rPr sz="1800" spc="-3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Roboto"/>
                <a:cs typeface="Roboto"/>
              </a:rPr>
              <a:t>считается)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Node.js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41297"/>
            <a:ext cx="8335009" cy="234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Node.js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исполнение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JavaScript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кода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130" dirty="0">
                <a:latin typeface="Tahoma"/>
                <a:cs typeface="Tahoma"/>
              </a:rPr>
              <a:t>НЕ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браузере.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5199"/>
              </a:lnSpc>
              <a:spcBef>
                <a:spcPts val="1185"/>
              </a:spcBef>
            </a:pP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Программная</a:t>
            </a:r>
            <a:r>
              <a:rPr sz="1800" spc="2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платформа,</a:t>
            </a:r>
            <a:r>
              <a:rPr sz="1800" spc="-1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основанная</a:t>
            </a:r>
            <a:r>
              <a:rPr sz="1800" spc="8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на</a:t>
            </a:r>
            <a:r>
              <a:rPr sz="1800" spc="7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333333"/>
                </a:solidFill>
                <a:latin typeface="Tahoma"/>
                <a:cs typeface="Tahoma"/>
              </a:rPr>
              <a:t>движке</a:t>
            </a:r>
            <a:r>
              <a:rPr sz="1800" spc="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V8,</a:t>
            </a:r>
            <a:r>
              <a:rPr sz="1800" spc="7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Tahoma"/>
                <a:cs typeface="Tahoma"/>
              </a:rPr>
              <a:t>превращающая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JavaScript</a:t>
            </a:r>
            <a:r>
              <a:rPr sz="1800"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из</a:t>
            </a:r>
            <a:r>
              <a:rPr sz="1800" spc="-10" dirty="0">
                <a:solidFill>
                  <a:srgbClr val="333333"/>
                </a:solidFill>
                <a:latin typeface="Tahoma"/>
                <a:cs typeface="Tahoma"/>
              </a:rPr>
              <a:t> узкоспециализированного</a:t>
            </a:r>
            <a:r>
              <a:rPr sz="1800" spc="-2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языка</a:t>
            </a:r>
            <a:r>
              <a:rPr sz="1800" spc="-1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в</a:t>
            </a:r>
            <a:r>
              <a:rPr sz="1800" spc="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язык</a:t>
            </a:r>
            <a:r>
              <a:rPr sz="1800" spc="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общего</a:t>
            </a:r>
            <a:r>
              <a:rPr sz="18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Tahoma"/>
                <a:cs typeface="Tahoma"/>
              </a:rPr>
              <a:t>назначения.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Node.js</a:t>
            </a:r>
            <a:r>
              <a:rPr sz="1800" spc="13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добавляет</a:t>
            </a:r>
            <a:r>
              <a:rPr sz="1800" spc="10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возможность</a:t>
            </a:r>
            <a:r>
              <a:rPr sz="1800" spc="19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JavaScript</a:t>
            </a:r>
            <a:r>
              <a:rPr sz="1800" spc="9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взаимодействовать</a:t>
            </a:r>
            <a:r>
              <a:rPr sz="1800" spc="12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333333"/>
                </a:solidFill>
                <a:latin typeface="Tahoma"/>
                <a:cs typeface="Tahoma"/>
              </a:rPr>
              <a:t>с</a:t>
            </a:r>
            <a:r>
              <a:rPr sz="1800" spc="50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устройствами</a:t>
            </a:r>
            <a:r>
              <a:rPr sz="1800" spc="-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ввода-вывода</a:t>
            </a:r>
            <a:r>
              <a:rPr sz="1800" spc="2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через</a:t>
            </a:r>
            <a:r>
              <a:rPr sz="1800" spc="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свой</a:t>
            </a:r>
            <a:r>
              <a:rPr sz="1800" spc="2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API,</a:t>
            </a:r>
            <a:r>
              <a:rPr sz="1800" spc="2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написанный</a:t>
            </a:r>
            <a:r>
              <a:rPr sz="1800" spc="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на</a:t>
            </a:r>
            <a:r>
              <a:rPr sz="1800" spc="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-100" dirty="0">
                <a:solidFill>
                  <a:srgbClr val="333333"/>
                </a:solidFill>
                <a:latin typeface="Tahoma"/>
                <a:cs typeface="Tahoma"/>
              </a:rPr>
              <a:t>C++,</a:t>
            </a:r>
            <a:r>
              <a:rPr sz="1800" spc="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Tahoma"/>
                <a:cs typeface="Tahoma"/>
              </a:rPr>
              <a:t>подключать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другие</a:t>
            </a:r>
            <a:r>
              <a:rPr sz="1800"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внешние</a:t>
            </a:r>
            <a:r>
              <a:rPr sz="18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библиотеки,</a:t>
            </a:r>
            <a:r>
              <a:rPr sz="1800" spc="-9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написанные</a:t>
            </a:r>
            <a:r>
              <a:rPr sz="18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на</a:t>
            </a:r>
            <a:r>
              <a:rPr sz="1800" spc="-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разных</a:t>
            </a:r>
            <a:r>
              <a:rPr sz="1800" spc="-4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Tahoma"/>
                <a:cs typeface="Tahoma"/>
              </a:rPr>
              <a:t>языках,</a:t>
            </a:r>
            <a:r>
              <a:rPr sz="1800" spc="-5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Tahoma"/>
                <a:cs typeface="Tahoma"/>
              </a:rPr>
              <a:t>обеспечивая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вызовы</a:t>
            </a:r>
            <a:r>
              <a:rPr sz="1800" spc="6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spc="-125" dirty="0">
                <a:solidFill>
                  <a:srgbClr val="333333"/>
                </a:solidFill>
                <a:latin typeface="Tahoma"/>
                <a:cs typeface="Tahoma"/>
              </a:rPr>
              <a:t>к</a:t>
            </a:r>
            <a:r>
              <a:rPr sz="1800" spc="6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ним</a:t>
            </a:r>
            <a:r>
              <a:rPr sz="1800" spc="6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из</a:t>
            </a:r>
            <a:r>
              <a:rPr sz="1800" spc="4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33333"/>
                </a:solidFill>
                <a:latin typeface="Tahoma"/>
                <a:cs typeface="Tahoma"/>
              </a:rPr>
              <a:t>JavaScript-</a:t>
            </a:r>
            <a:r>
              <a:rPr sz="1800" spc="-10" dirty="0">
                <a:solidFill>
                  <a:srgbClr val="333333"/>
                </a:solidFill>
                <a:latin typeface="Tahoma"/>
                <a:cs typeface="Tahoma"/>
              </a:rPr>
              <a:t>кода.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515238"/>
            <a:ext cx="8129270" cy="3060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5" dirty="0">
                <a:latin typeface="Tahoma"/>
                <a:cs typeface="Tahoma"/>
              </a:rPr>
              <a:t>Npm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20"/>
              </a:spcBef>
            </a:pPr>
            <a:r>
              <a:rPr sz="1800" dirty="0">
                <a:latin typeface="Tahoma"/>
                <a:cs typeface="Tahoma"/>
              </a:rPr>
              <a:t>Npm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Package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Manager</a:t>
            </a:r>
            <a:endParaRPr sz="1800">
              <a:latin typeface="Tahoma"/>
              <a:cs typeface="Tahoma"/>
            </a:endParaRPr>
          </a:p>
          <a:p>
            <a:pPr marL="12700" marR="3050540">
              <a:lnSpc>
                <a:spcPts val="3700"/>
              </a:lnSpc>
              <a:spcBef>
                <a:spcPts val="355"/>
              </a:spcBef>
            </a:pPr>
            <a:r>
              <a:rPr sz="1800" dirty="0">
                <a:latin typeface="Tahoma"/>
                <a:cs typeface="Tahoma"/>
              </a:rPr>
              <a:t>Менеджер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пакетов,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входящий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состав </a:t>
            </a:r>
            <a:r>
              <a:rPr sz="1800" spc="-10" dirty="0">
                <a:latin typeface="Tahoma"/>
                <a:cs typeface="Tahoma"/>
              </a:rPr>
              <a:t>Node.js. </a:t>
            </a:r>
            <a:r>
              <a:rPr sz="1800" spc="130" dirty="0">
                <a:latin typeface="Tahoma"/>
                <a:cs typeface="Tahoma"/>
              </a:rPr>
              <a:t>NPM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состоит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из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двух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основных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частей: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13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инструмент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CLI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(command-line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interface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– интерфейс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командной</a:t>
            </a:r>
            <a:r>
              <a:rPr sz="1800" spc="-10" dirty="0">
                <a:latin typeface="Tahoma"/>
                <a:cs typeface="Tahoma"/>
              </a:rPr>
              <a:t> строки)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Tahoma"/>
                <a:cs typeface="Tahoma"/>
              </a:rPr>
              <a:t>для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публикации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загрузки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пакетов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онлайн-репозиторий,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котором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размещаются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пакеты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JavaScript.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Как</a:t>
            </a:r>
            <a:r>
              <a:rPr spc="-130" dirty="0"/>
              <a:t> </a:t>
            </a:r>
            <a:r>
              <a:rPr spc="-20" dirty="0"/>
              <a:t>подключить</a:t>
            </a:r>
            <a:r>
              <a:rPr spc="-140" dirty="0"/>
              <a:t> </a:t>
            </a:r>
            <a:r>
              <a:rPr spc="-10" dirty="0"/>
              <a:t>библиотеки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41297"/>
            <a:ext cx="199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Вариант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100" dirty="0">
                <a:latin typeface="Tahoma"/>
                <a:cs typeface="Tahoma"/>
              </a:rPr>
              <a:t>CDN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374" y="3101162"/>
            <a:ext cx="19837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Вариант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Npm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055" y="1703831"/>
            <a:ext cx="7821168" cy="685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055" y="3639311"/>
            <a:ext cx="4858512" cy="80162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Npm</a:t>
            </a:r>
            <a:r>
              <a:rPr spc="-45" dirty="0"/>
              <a:t> </a:t>
            </a:r>
            <a:r>
              <a:rPr spc="-90" dirty="0"/>
              <a:t>(как</a:t>
            </a:r>
            <a:r>
              <a:rPr spc="-40" dirty="0"/>
              <a:t> </a:t>
            </a:r>
            <a:r>
              <a:rPr spc="-10" dirty="0"/>
              <a:t>работает)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19961"/>
            <a:ext cx="4307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Скачиваем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нужные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нам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зависимости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374" y="2982290"/>
            <a:ext cx="7794625" cy="58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●"/>
              <a:tabLst>
                <a:tab pos="353695" algn="l"/>
              </a:tabLst>
            </a:pPr>
            <a:r>
              <a:rPr sz="1800" spc="100" dirty="0">
                <a:latin typeface="Tahoma"/>
                <a:cs typeface="Tahoma"/>
              </a:rPr>
              <a:t>У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нас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появляется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директория node_modules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всеми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зависимостями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10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Подключаем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нужный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нам</a:t>
            </a:r>
            <a:r>
              <a:rPr sz="1800" spc="-10" dirty="0">
                <a:latin typeface="Tahoma"/>
                <a:cs typeface="Tahoma"/>
              </a:rPr>
              <a:t> пакет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961" y="1676400"/>
            <a:ext cx="5269606" cy="12374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431" y="3666744"/>
            <a:ext cx="7162800" cy="12374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7047" y="421888"/>
            <a:ext cx="6089904" cy="44335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Npm</a:t>
            </a:r>
            <a:r>
              <a:rPr spc="80" dirty="0"/>
              <a:t> </a:t>
            </a:r>
            <a:r>
              <a:rPr dirty="0"/>
              <a:t>(создаем</a:t>
            </a:r>
            <a:r>
              <a:rPr spc="50" dirty="0"/>
              <a:t> </a:t>
            </a:r>
            <a:r>
              <a:rPr dirty="0"/>
              <a:t>свой</a:t>
            </a:r>
            <a:r>
              <a:rPr spc="95" dirty="0"/>
              <a:t> </a:t>
            </a:r>
            <a:r>
              <a:rPr spc="-10" dirty="0"/>
              <a:t>модуль)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41297"/>
            <a:ext cx="6469380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npm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init</a:t>
            </a:r>
            <a:r>
              <a:rPr sz="1800" spc="25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инициализируем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свое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приложение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buFont typeface="Tahoma"/>
              <a:buChar char="●"/>
              <a:tabLst>
                <a:tab pos="469900" algn="l"/>
              </a:tabLst>
            </a:pPr>
            <a:r>
              <a:rPr sz="1800" dirty="0">
                <a:latin typeface="Courier New"/>
                <a:cs typeface="Courier New"/>
              </a:rPr>
              <a:t>package.json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файл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описанием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приложения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Font typeface="Tahoma"/>
              <a:buChar char="●"/>
              <a:tabLst>
                <a:tab pos="469900" algn="l"/>
              </a:tabLst>
            </a:pPr>
            <a:r>
              <a:rPr sz="1800" spc="-10" dirty="0">
                <a:latin typeface="Courier New"/>
                <a:cs typeface="Courier New"/>
              </a:rPr>
              <a:t>package-</a:t>
            </a:r>
            <a:r>
              <a:rPr sz="1800" dirty="0">
                <a:latin typeface="Courier New"/>
                <a:cs typeface="Courier New"/>
              </a:rPr>
              <a:t>lock.json</a:t>
            </a:r>
            <a:r>
              <a:rPr sz="1800" spc="25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файл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версиями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зависимостей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Npm</a:t>
            </a:r>
            <a:r>
              <a:rPr spc="80" dirty="0"/>
              <a:t> </a:t>
            </a:r>
            <a:r>
              <a:rPr dirty="0"/>
              <a:t>(создаем</a:t>
            </a:r>
            <a:r>
              <a:rPr spc="50" dirty="0"/>
              <a:t> </a:t>
            </a:r>
            <a:r>
              <a:rPr dirty="0"/>
              <a:t>свой</a:t>
            </a:r>
            <a:r>
              <a:rPr spc="95" dirty="0"/>
              <a:t> </a:t>
            </a:r>
            <a:r>
              <a:rPr spc="-10" dirty="0"/>
              <a:t>модуль)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3016" y="1213103"/>
            <a:ext cx="5077967" cy="36240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685"/>
              </a:spcBef>
            </a:pPr>
            <a:r>
              <a:rPr sz="3600" spc="110" dirty="0"/>
              <a:t>Работа</a:t>
            </a:r>
            <a:r>
              <a:rPr sz="3600" spc="-125" dirty="0"/>
              <a:t> </a:t>
            </a:r>
            <a:r>
              <a:rPr sz="3600" spc="130" dirty="0"/>
              <a:t>с</a:t>
            </a:r>
            <a:r>
              <a:rPr sz="3600" spc="-114" dirty="0"/>
              <a:t> </a:t>
            </a:r>
            <a:r>
              <a:rPr sz="3600" spc="-20" dirty="0"/>
              <a:t>сетью</a:t>
            </a:r>
            <a:endParaRPr sz="3600"/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585858"/>
                </a:solidFill>
              </a:rPr>
              <a:t>Подробнее</a:t>
            </a:r>
            <a:r>
              <a:rPr sz="1800" spc="-15" dirty="0">
                <a:solidFill>
                  <a:srgbClr val="585858"/>
                </a:solidFill>
              </a:rPr>
              <a:t> </a:t>
            </a:r>
            <a:r>
              <a:rPr sz="1800" dirty="0">
                <a:solidFill>
                  <a:srgbClr val="585858"/>
                </a:solidFill>
              </a:rPr>
              <a:t>тут</a:t>
            </a:r>
            <a:r>
              <a:rPr sz="1800" spc="85" dirty="0">
                <a:solidFill>
                  <a:srgbClr val="585858"/>
                </a:solidFill>
              </a:rPr>
              <a:t> </a:t>
            </a:r>
            <a:r>
              <a:rPr sz="1800" spc="-10" dirty="0">
                <a:solidFill>
                  <a:srgbClr val="585858"/>
                </a:solidFill>
              </a:rPr>
              <a:t>https://developer.mozilla.org/ru/docs/Web/Guide/AJAX</a:t>
            </a:r>
            <a:endParaRPr sz="1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Протокол</a:t>
            </a:r>
            <a:r>
              <a:rPr spc="-75" dirty="0"/>
              <a:t> </a:t>
            </a:r>
            <a:r>
              <a:rPr spc="105" dirty="0"/>
              <a:t>HTTP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023" y="1152143"/>
            <a:ext cx="5715000" cy="353263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Ajax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19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B1B1B"/>
                </a:solidFill>
              </a:rPr>
              <a:t>Ajax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означает</a:t>
            </a:r>
            <a:r>
              <a:rPr spc="4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Асинхронный</a:t>
            </a:r>
            <a:r>
              <a:rPr spc="9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JavaScript</a:t>
            </a:r>
            <a:r>
              <a:rPr spc="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и</a:t>
            </a:r>
            <a:r>
              <a:rPr spc="65" dirty="0">
                <a:solidFill>
                  <a:srgbClr val="1B1B1B"/>
                </a:solidFill>
              </a:rPr>
              <a:t> </a:t>
            </a:r>
            <a:r>
              <a:rPr spc="35" dirty="0">
                <a:solidFill>
                  <a:srgbClr val="1B1B1B"/>
                </a:solidFill>
              </a:rPr>
              <a:t>XML.</a:t>
            </a:r>
          </a:p>
          <a:p>
            <a:pPr marL="12700" marR="5080">
              <a:lnSpc>
                <a:spcPct val="115100"/>
              </a:lnSpc>
              <a:spcBef>
                <a:spcPts val="1185"/>
              </a:spcBef>
            </a:pPr>
            <a:r>
              <a:rPr spc="125" dirty="0">
                <a:solidFill>
                  <a:srgbClr val="1B1B1B"/>
                </a:solidFill>
              </a:rPr>
              <a:t>В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основе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технологии</a:t>
            </a:r>
            <a:r>
              <a:rPr spc="80" dirty="0">
                <a:solidFill>
                  <a:srgbClr val="1B1B1B"/>
                </a:solidFill>
              </a:rPr>
              <a:t> </a:t>
            </a:r>
            <a:r>
              <a:rPr spc="-10" dirty="0">
                <a:solidFill>
                  <a:srgbClr val="1B1B1B"/>
                </a:solidFill>
              </a:rPr>
              <a:t>лежит</a:t>
            </a:r>
            <a:r>
              <a:rPr spc="1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использование</a:t>
            </a:r>
            <a:r>
              <a:rPr spc="-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XMLHttpRequest,</a:t>
            </a:r>
            <a:r>
              <a:rPr spc="50" dirty="0">
                <a:solidFill>
                  <a:srgbClr val="1B1B1B"/>
                </a:solidFill>
              </a:rPr>
              <a:t> </a:t>
            </a:r>
            <a:r>
              <a:rPr spc="-10" dirty="0">
                <a:solidFill>
                  <a:srgbClr val="1B1B1B"/>
                </a:solidFill>
              </a:rPr>
              <a:t>который </a:t>
            </a:r>
            <a:r>
              <a:rPr dirty="0">
                <a:solidFill>
                  <a:srgbClr val="1B1B1B"/>
                </a:solidFill>
              </a:rPr>
              <a:t>позволяет</a:t>
            </a:r>
            <a:r>
              <a:rPr spc="-3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нам</a:t>
            </a:r>
            <a:r>
              <a:rPr spc="-1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отправлять</a:t>
            </a:r>
            <a:r>
              <a:rPr spc="-1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и</a:t>
            </a:r>
            <a:r>
              <a:rPr spc="1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получать</a:t>
            </a:r>
            <a:r>
              <a:rPr spc="-1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информацию</a:t>
            </a:r>
            <a:r>
              <a:rPr spc="-5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в</a:t>
            </a:r>
            <a:r>
              <a:rPr spc="10" dirty="0">
                <a:solidFill>
                  <a:srgbClr val="1B1B1B"/>
                </a:solidFill>
              </a:rPr>
              <a:t> </a:t>
            </a:r>
            <a:r>
              <a:rPr spc="-10" dirty="0">
                <a:solidFill>
                  <a:srgbClr val="1B1B1B"/>
                </a:solidFill>
              </a:rPr>
              <a:t>различных </a:t>
            </a:r>
            <a:r>
              <a:rPr dirty="0">
                <a:solidFill>
                  <a:srgbClr val="1B1B1B"/>
                </a:solidFill>
              </a:rPr>
              <a:t>форматах</a:t>
            </a:r>
            <a:r>
              <a:rPr spc="-6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включая</a:t>
            </a:r>
            <a:r>
              <a:rPr spc="20" dirty="0">
                <a:solidFill>
                  <a:srgbClr val="1B1B1B"/>
                </a:solidFill>
              </a:rPr>
              <a:t> </a:t>
            </a:r>
            <a:r>
              <a:rPr spc="60" dirty="0">
                <a:solidFill>
                  <a:srgbClr val="1B1B1B"/>
                </a:solidFill>
              </a:rPr>
              <a:t>XML,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spc="70" dirty="0">
                <a:solidFill>
                  <a:srgbClr val="1B1B1B"/>
                </a:solidFill>
              </a:rPr>
              <a:t>HTML</a:t>
            </a:r>
            <a:r>
              <a:rPr spc="6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и</a:t>
            </a:r>
            <a:r>
              <a:rPr spc="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даже</a:t>
            </a:r>
            <a:r>
              <a:rPr spc="-2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текстовые</a:t>
            </a:r>
            <a:r>
              <a:rPr spc="-1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файлы.</a:t>
            </a:r>
            <a:r>
              <a:rPr spc="-40" dirty="0">
                <a:solidFill>
                  <a:srgbClr val="1B1B1B"/>
                </a:solidFill>
              </a:rPr>
              <a:t> </a:t>
            </a:r>
            <a:r>
              <a:rPr spc="75" dirty="0">
                <a:solidFill>
                  <a:srgbClr val="1B1B1B"/>
                </a:solidFill>
              </a:rPr>
              <a:t>Самое </a:t>
            </a:r>
            <a:r>
              <a:rPr dirty="0">
                <a:solidFill>
                  <a:srgbClr val="1B1B1B"/>
                </a:solidFill>
              </a:rPr>
              <a:t>привлекательное</a:t>
            </a:r>
            <a:r>
              <a:rPr spc="-7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в</a:t>
            </a:r>
            <a:r>
              <a:rPr spc="-2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Ajax</a:t>
            </a:r>
            <a:r>
              <a:rPr spc="-30" dirty="0">
                <a:solidFill>
                  <a:srgbClr val="1B1B1B"/>
                </a:solidFill>
              </a:rPr>
              <a:t> </a:t>
            </a:r>
            <a:r>
              <a:rPr spc="145" dirty="0">
                <a:solidFill>
                  <a:srgbClr val="1B1B1B"/>
                </a:solidFill>
              </a:rPr>
              <a:t>—</a:t>
            </a:r>
            <a:r>
              <a:rPr spc="-2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это</a:t>
            </a:r>
            <a:r>
              <a:rPr spc="-3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его</a:t>
            </a:r>
            <a:r>
              <a:rPr spc="-2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асинхронный</a:t>
            </a:r>
            <a:r>
              <a:rPr spc="5" dirty="0">
                <a:solidFill>
                  <a:srgbClr val="1B1B1B"/>
                </a:solidFill>
              </a:rPr>
              <a:t> </a:t>
            </a:r>
            <a:r>
              <a:rPr spc="-20" dirty="0">
                <a:solidFill>
                  <a:srgbClr val="1B1B1B"/>
                </a:solidFill>
              </a:rPr>
              <a:t>принцип</a:t>
            </a:r>
            <a:r>
              <a:rPr spc="-4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работы.</a:t>
            </a:r>
            <a:r>
              <a:rPr spc="-70" dirty="0">
                <a:solidFill>
                  <a:srgbClr val="1B1B1B"/>
                </a:solidFill>
              </a:rPr>
              <a:t> </a:t>
            </a:r>
            <a:r>
              <a:rPr spc="165" dirty="0">
                <a:solidFill>
                  <a:srgbClr val="1B1B1B"/>
                </a:solidFill>
              </a:rPr>
              <a:t>С </a:t>
            </a:r>
            <a:r>
              <a:rPr dirty="0">
                <a:solidFill>
                  <a:srgbClr val="1B1B1B"/>
                </a:solidFill>
              </a:rPr>
              <a:t>помощью</a:t>
            </a:r>
            <a:r>
              <a:rPr spc="-1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этой</a:t>
            </a:r>
            <a:r>
              <a:rPr spc="4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технологии</a:t>
            </a:r>
            <a:r>
              <a:rPr spc="8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можно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осуществлять</a:t>
            </a:r>
            <a:r>
              <a:rPr spc="2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взаимодействие</a:t>
            </a:r>
            <a:r>
              <a:rPr spc="-25" dirty="0">
                <a:solidFill>
                  <a:srgbClr val="1B1B1B"/>
                </a:solidFill>
              </a:rPr>
              <a:t> </a:t>
            </a:r>
            <a:r>
              <a:rPr spc="20" dirty="0">
                <a:solidFill>
                  <a:srgbClr val="1B1B1B"/>
                </a:solidFill>
              </a:rPr>
              <a:t>с </a:t>
            </a:r>
            <a:r>
              <a:rPr dirty="0">
                <a:solidFill>
                  <a:srgbClr val="1B1B1B"/>
                </a:solidFill>
              </a:rPr>
              <a:t>сервером</a:t>
            </a:r>
            <a:r>
              <a:rPr spc="-2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без</a:t>
            </a:r>
            <a:r>
              <a:rPr spc="4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необходимости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-10" dirty="0">
                <a:solidFill>
                  <a:srgbClr val="1B1B1B"/>
                </a:solidFill>
              </a:rPr>
              <a:t>перезагрузки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страницы.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spc="65" dirty="0">
                <a:solidFill>
                  <a:srgbClr val="1B1B1B"/>
                </a:solidFill>
              </a:rPr>
              <a:t>Это</a:t>
            </a:r>
            <a:r>
              <a:rPr spc="55" dirty="0">
                <a:solidFill>
                  <a:srgbClr val="1B1B1B"/>
                </a:solidFill>
              </a:rPr>
              <a:t> </a:t>
            </a:r>
            <a:r>
              <a:rPr spc="-10" dirty="0">
                <a:solidFill>
                  <a:srgbClr val="1B1B1B"/>
                </a:solidFill>
              </a:rPr>
              <a:t>позволяет </a:t>
            </a:r>
            <a:r>
              <a:rPr dirty="0">
                <a:solidFill>
                  <a:srgbClr val="1B1B1B"/>
                </a:solidFill>
              </a:rPr>
              <a:t>обновлять содержимое</a:t>
            </a:r>
            <a:r>
              <a:rPr spc="-4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страницы</a:t>
            </a:r>
            <a:r>
              <a:rPr spc="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частично,</a:t>
            </a:r>
            <a:r>
              <a:rPr spc="30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в</a:t>
            </a:r>
            <a:r>
              <a:rPr spc="3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зависимости</a:t>
            </a:r>
            <a:r>
              <a:rPr spc="-45" dirty="0">
                <a:solidFill>
                  <a:srgbClr val="1B1B1B"/>
                </a:solidFill>
              </a:rPr>
              <a:t> </a:t>
            </a:r>
            <a:r>
              <a:rPr dirty="0">
                <a:solidFill>
                  <a:srgbClr val="1B1B1B"/>
                </a:solidFill>
              </a:rPr>
              <a:t>от</a:t>
            </a:r>
            <a:r>
              <a:rPr spc="15" dirty="0">
                <a:solidFill>
                  <a:srgbClr val="1B1B1B"/>
                </a:solidFill>
              </a:rPr>
              <a:t> </a:t>
            </a:r>
            <a:r>
              <a:rPr spc="-10" dirty="0">
                <a:solidFill>
                  <a:srgbClr val="1B1B1B"/>
                </a:solidFill>
              </a:rPr>
              <a:t>действий пользователя.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Что</a:t>
            </a:r>
            <a:r>
              <a:rPr spc="15" dirty="0"/>
              <a:t> </a:t>
            </a:r>
            <a:r>
              <a:rPr dirty="0"/>
              <a:t>передаем по</a:t>
            </a:r>
            <a:r>
              <a:rPr spc="50" dirty="0"/>
              <a:t> </a:t>
            </a:r>
            <a:r>
              <a:rPr spc="-20" dirty="0"/>
              <a:t>сети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2360930" cy="12846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dirty="0">
                <a:solidFill>
                  <a:srgbClr val="1B1B1B"/>
                </a:solidFill>
                <a:latin typeface="Tahoma"/>
                <a:cs typeface="Tahoma"/>
              </a:rPr>
              <a:t>Текстовые</a:t>
            </a:r>
            <a:r>
              <a:rPr sz="1800" spc="6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Tahoma"/>
                <a:cs typeface="Tahoma"/>
              </a:rPr>
              <a:t>данные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spc="114" dirty="0">
                <a:solidFill>
                  <a:srgbClr val="1B1B1B"/>
                </a:solidFill>
                <a:latin typeface="Tahoma"/>
                <a:cs typeface="Tahoma"/>
              </a:rPr>
              <a:t>JSON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dirty="0">
                <a:solidFill>
                  <a:srgbClr val="1B1B1B"/>
                </a:solidFill>
                <a:latin typeface="Tahoma"/>
                <a:cs typeface="Tahoma"/>
              </a:rPr>
              <a:t>Бинарные</a:t>
            </a:r>
            <a:r>
              <a:rPr sz="1800" spc="80" dirty="0">
                <a:solidFill>
                  <a:srgbClr val="1B1B1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B1B1B"/>
                </a:solidFill>
                <a:latin typeface="Tahoma"/>
                <a:cs typeface="Tahoma"/>
              </a:rPr>
              <a:t>данные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spc="-10" dirty="0">
                <a:solidFill>
                  <a:srgbClr val="1B1B1B"/>
                </a:solidFill>
                <a:latin typeface="Tahoma"/>
                <a:cs typeface="Tahoma"/>
              </a:rPr>
              <a:t>Файлы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515238"/>
            <a:ext cx="8699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165" dirty="0">
                <a:latin typeface="Tahoma"/>
                <a:cs typeface="Tahoma"/>
              </a:rPr>
              <a:t>JSON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540625" cy="9702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spc="140" dirty="0">
                <a:latin typeface="Tahoma"/>
                <a:cs typeface="Tahoma"/>
              </a:rPr>
              <a:t>JSON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это</a:t>
            </a:r>
            <a:r>
              <a:rPr sz="1800" spc="2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общий</a:t>
            </a:r>
            <a:r>
              <a:rPr sz="1800" spc="-3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формат</a:t>
            </a:r>
            <a:r>
              <a:rPr sz="1800" spc="-5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для представления</a:t>
            </a:r>
            <a:r>
              <a:rPr sz="1800" spc="-5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значений</a:t>
            </a:r>
            <a:r>
              <a:rPr sz="1800" spc="4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и</a:t>
            </a:r>
            <a:r>
              <a:rPr sz="1800" spc="-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0302F"/>
                </a:solidFill>
                <a:latin typeface="Tahoma"/>
                <a:cs typeface="Tahoma"/>
              </a:rPr>
              <a:t>объектов.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Первоначально</a:t>
            </a:r>
            <a:r>
              <a:rPr sz="1800" spc="1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он</a:t>
            </a:r>
            <a:r>
              <a:rPr sz="1800" spc="2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был</a:t>
            </a:r>
            <a:r>
              <a:rPr sz="1800" spc="4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создан</a:t>
            </a:r>
            <a:r>
              <a:rPr sz="1800" spc="-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для</a:t>
            </a:r>
            <a:r>
              <a:rPr sz="1800" spc="2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JavaScript,</a:t>
            </a:r>
            <a:r>
              <a:rPr sz="1800" spc="-1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но</a:t>
            </a:r>
            <a:r>
              <a:rPr sz="1800" spc="4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многие</a:t>
            </a:r>
            <a:r>
              <a:rPr sz="1800" spc="4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другие</a:t>
            </a:r>
            <a:r>
              <a:rPr sz="1800" spc="4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0302F"/>
                </a:solidFill>
                <a:latin typeface="Tahoma"/>
                <a:cs typeface="Tahoma"/>
              </a:rPr>
              <a:t>языки </a:t>
            </a:r>
            <a:r>
              <a:rPr sz="1800" spc="-30" dirty="0">
                <a:solidFill>
                  <a:srgbClr val="30302F"/>
                </a:solidFill>
                <a:latin typeface="Tahoma"/>
                <a:cs typeface="Tahoma"/>
              </a:rPr>
              <a:t>также</a:t>
            </a:r>
            <a:r>
              <a:rPr sz="1800" spc="-5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имеют</a:t>
            </a:r>
            <a:r>
              <a:rPr sz="1800" spc="-4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0302F"/>
                </a:solidFill>
                <a:latin typeface="Tahoma"/>
                <a:cs typeface="Tahoma"/>
              </a:rPr>
              <a:t>библиотеки,</a:t>
            </a:r>
            <a:r>
              <a:rPr sz="1800" spc="-10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которые</a:t>
            </a:r>
            <a:r>
              <a:rPr sz="1800" spc="-4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могут</a:t>
            </a:r>
            <a:r>
              <a:rPr sz="1800" spc="-4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работать</a:t>
            </a:r>
            <a:r>
              <a:rPr sz="1800" spc="-5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30302F"/>
                </a:solidFill>
                <a:latin typeface="Tahoma"/>
                <a:cs typeface="Tahoma"/>
              </a:rPr>
              <a:t>с</a:t>
            </a:r>
            <a:r>
              <a:rPr sz="1800" spc="-20" dirty="0">
                <a:solidFill>
                  <a:srgbClr val="30302F"/>
                </a:solidFill>
                <a:latin typeface="Tahoma"/>
                <a:cs typeface="Tahoma"/>
              </a:rPr>
              <a:t> ним.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144" y="2313431"/>
            <a:ext cx="522427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Blob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788275" cy="6534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Blob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это</a:t>
            </a:r>
            <a:r>
              <a:rPr sz="1800" spc="2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объект</a:t>
            </a:r>
            <a:r>
              <a:rPr sz="1800" spc="-1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в</a:t>
            </a:r>
            <a:r>
              <a:rPr sz="1800" spc="-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JavaScript,</a:t>
            </a:r>
            <a:r>
              <a:rPr sz="1800" spc="-3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0302F"/>
                </a:solidFill>
                <a:latin typeface="Tahoma"/>
                <a:cs typeface="Tahoma"/>
              </a:rPr>
              <a:t>который</a:t>
            </a:r>
            <a:r>
              <a:rPr sz="1800" spc="-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позволяет</a:t>
            </a:r>
            <a:r>
              <a:rPr sz="1800" spc="-2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работать</a:t>
            </a:r>
            <a:r>
              <a:rPr sz="1800" spc="-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30302F"/>
                </a:solidFill>
                <a:latin typeface="Tahoma"/>
                <a:cs typeface="Tahoma"/>
              </a:rPr>
              <a:t>с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30302F"/>
                </a:solidFill>
                <a:latin typeface="Tahoma"/>
                <a:cs typeface="Tahoma"/>
              </a:rPr>
              <a:t>бинарными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solidFill>
                  <a:srgbClr val="30302F"/>
                </a:solidFill>
                <a:latin typeface="Tahoma"/>
                <a:cs typeface="Tahoma"/>
              </a:rPr>
              <a:t>данными.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872" y="2371344"/>
            <a:ext cx="7872983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FormData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751445" cy="6534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FormData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объект</a:t>
            </a:r>
            <a:r>
              <a:rPr sz="1800" spc="5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JavaScript,</a:t>
            </a:r>
            <a:r>
              <a:rPr sz="1800" spc="-10" dirty="0">
                <a:solidFill>
                  <a:srgbClr val="30302F"/>
                </a:solidFill>
                <a:latin typeface="Tahoma"/>
                <a:cs typeface="Tahoma"/>
              </a:rPr>
              <a:t> который </a:t>
            </a:r>
            <a:r>
              <a:rPr sz="1800" dirty="0">
                <a:solidFill>
                  <a:srgbClr val="30302F"/>
                </a:solidFill>
                <a:latin typeface="Tahoma"/>
                <a:cs typeface="Tahoma"/>
              </a:rPr>
              <a:t>позволяет работать</a:t>
            </a:r>
            <a:r>
              <a:rPr sz="1800" spc="1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30302F"/>
                </a:solidFill>
                <a:latin typeface="Tahoma"/>
                <a:cs typeface="Tahoma"/>
              </a:rPr>
              <a:t>с</a:t>
            </a:r>
            <a:r>
              <a:rPr sz="1800" spc="50" dirty="0">
                <a:solidFill>
                  <a:srgbClr val="30302F"/>
                </a:solidFill>
                <a:latin typeface="Tahoma"/>
                <a:cs typeface="Tahoma"/>
              </a:rPr>
              <a:t> формами</a:t>
            </a:r>
            <a:r>
              <a:rPr sz="1800" spc="-40" dirty="0">
                <a:solidFill>
                  <a:srgbClr val="30302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30302F"/>
                </a:solidFill>
                <a:latin typeface="Tahoma"/>
                <a:cs typeface="Tahoma"/>
              </a:rPr>
              <a:t>и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solidFill>
                  <a:srgbClr val="30302F"/>
                </a:solidFill>
                <a:latin typeface="Tahoma"/>
                <a:cs typeface="Tahoma"/>
              </a:rPr>
              <a:t>файлами.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544" y="2328672"/>
            <a:ext cx="8058911" cy="164287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XMLHttpRequest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606030" cy="22205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dirty="0">
                <a:latin typeface="Courier New"/>
                <a:cs typeface="Courier New"/>
              </a:rPr>
              <a:t>XMLHttpRequest</a:t>
            </a:r>
            <a:r>
              <a:rPr sz="1800" spc="-10" dirty="0">
                <a:latin typeface="Courier New"/>
                <a:cs typeface="Courier New"/>
              </a:rPr>
              <a:t> (XHR)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это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встроенный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объект,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который </a:t>
            </a:r>
            <a:r>
              <a:rPr sz="1800" dirty="0">
                <a:latin typeface="Tahoma"/>
                <a:cs typeface="Tahoma"/>
              </a:rPr>
              <a:t>даёт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возможность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делать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HTTP-</a:t>
            </a:r>
            <a:r>
              <a:rPr sz="1800" dirty="0">
                <a:latin typeface="Tahoma"/>
                <a:cs typeface="Tahoma"/>
              </a:rPr>
              <a:t>запросы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spc="-125" dirty="0">
                <a:latin typeface="Tahoma"/>
                <a:cs typeface="Tahoma"/>
              </a:rPr>
              <a:t>к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серверу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без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перезагрузки страницы.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800" spc="120" dirty="0">
                <a:latin typeface="Tahoma"/>
                <a:cs typeface="Tahoma"/>
              </a:rPr>
              <a:t>XHR</a:t>
            </a:r>
            <a:r>
              <a:rPr sz="1800" dirty="0">
                <a:latin typeface="Tahoma"/>
                <a:cs typeface="Tahoma"/>
              </a:rPr>
              <a:t> поддерживает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2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режима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работы: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535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Синхронный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Char char="●"/>
              <a:tabLst>
                <a:tab pos="469900" algn="l"/>
              </a:tabLst>
            </a:pPr>
            <a:r>
              <a:rPr sz="1800" spc="-10" dirty="0">
                <a:latin typeface="Tahoma"/>
                <a:cs typeface="Tahoma"/>
              </a:rPr>
              <a:t>Асинхронный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XMLHttpRequest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2586990" cy="12846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spc="65" dirty="0">
                <a:latin typeface="Tahoma"/>
                <a:cs typeface="Tahoma"/>
              </a:rPr>
              <a:t>Создаем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95" dirty="0">
                <a:latin typeface="Tahoma"/>
                <a:cs typeface="Tahoma"/>
              </a:rPr>
              <a:t>XHR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Инициализируем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его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spc="50" dirty="0">
                <a:latin typeface="Tahoma"/>
                <a:cs typeface="Tahoma"/>
              </a:rPr>
              <a:t>Посылаем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запрос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spc="65" dirty="0">
                <a:latin typeface="Tahoma"/>
                <a:cs typeface="Tahoma"/>
              </a:rPr>
              <a:t>Слушаем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ответ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140" dirty="0"/>
              <a:t> </a:t>
            </a:r>
            <a:r>
              <a:rPr dirty="0"/>
              <a:t>XMLHttpRequest</a:t>
            </a:r>
            <a:r>
              <a:rPr spc="245" dirty="0"/>
              <a:t> </a:t>
            </a:r>
            <a:r>
              <a:rPr spc="-10" dirty="0"/>
              <a:t>(создаем)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944" y="1953767"/>
            <a:ext cx="6992111" cy="12374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140" dirty="0"/>
              <a:t> </a:t>
            </a:r>
            <a:r>
              <a:rPr dirty="0"/>
              <a:t>XMLHttpRequest</a:t>
            </a:r>
            <a:r>
              <a:rPr spc="245" dirty="0"/>
              <a:t> </a:t>
            </a:r>
            <a:r>
              <a:rPr spc="-10" dirty="0"/>
              <a:t>(инициализируем)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852" y="2087879"/>
            <a:ext cx="8831747" cy="96926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150" dirty="0"/>
              <a:t> </a:t>
            </a:r>
            <a:r>
              <a:rPr dirty="0"/>
              <a:t>XMLHttpRequest</a:t>
            </a:r>
            <a:r>
              <a:rPr spc="254" dirty="0"/>
              <a:t> </a:t>
            </a:r>
            <a:r>
              <a:rPr dirty="0"/>
              <a:t>(посылаем</a:t>
            </a:r>
            <a:r>
              <a:rPr spc="160" dirty="0"/>
              <a:t> </a:t>
            </a:r>
            <a:r>
              <a:rPr spc="-10" dirty="0"/>
              <a:t>запрос)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111" y="1953767"/>
            <a:ext cx="3541776" cy="123748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145" dirty="0"/>
              <a:t> </a:t>
            </a:r>
            <a:r>
              <a:rPr dirty="0"/>
              <a:t>XMLHttpRequest</a:t>
            </a:r>
            <a:r>
              <a:rPr spc="245" dirty="0"/>
              <a:t> </a:t>
            </a:r>
            <a:r>
              <a:rPr dirty="0"/>
              <a:t>(слушаем</a:t>
            </a:r>
            <a:r>
              <a:rPr spc="180" dirty="0"/>
              <a:t> </a:t>
            </a:r>
            <a:r>
              <a:rPr spc="-10" dirty="0"/>
              <a:t>ответ)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263" y="1018031"/>
            <a:ext cx="7967472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395" dirty="0"/>
              <a:t> </a:t>
            </a:r>
            <a:r>
              <a:rPr dirty="0"/>
              <a:t>(слушаем</a:t>
            </a:r>
            <a:r>
              <a:rPr spc="325" dirty="0"/>
              <a:t> </a:t>
            </a:r>
            <a:r>
              <a:rPr spc="-10" dirty="0"/>
              <a:t>ответ)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41297"/>
            <a:ext cx="57873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Tahoma"/>
                <a:cs typeface="Tahoma"/>
              </a:rPr>
              <a:t>После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получения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ответа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мы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можем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достать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его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из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xhr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515"/>
              </a:spcBef>
              <a:buFont typeface="Tahoma"/>
              <a:buChar char="●"/>
              <a:tabLst>
                <a:tab pos="469900" algn="l"/>
              </a:tabLst>
            </a:pPr>
            <a:r>
              <a:rPr sz="1800" spc="-10" dirty="0">
                <a:latin typeface="Courier New"/>
                <a:cs typeface="Courier New"/>
              </a:rPr>
              <a:t>status</a:t>
            </a:r>
            <a:r>
              <a:rPr sz="1800" spc="-575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HTTP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статус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ответа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Font typeface="Tahoma"/>
              <a:buChar char="●"/>
              <a:tabLst>
                <a:tab pos="469900" algn="l"/>
              </a:tabLst>
            </a:pPr>
            <a:r>
              <a:rPr sz="1800" spc="-10" dirty="0">
                <a:latin typeface="Courier New"/>
                <a:cs typeface="Courier New"/>
              </a:rPr>
              <a:t>statusText</a:t>
            </a:r>
            <a:r>
              <a:rPr sz="1800" spc="-595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текстовых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HTTP</a:t>
            </a:r>
            <a:r>
              <a:rPr sz="1800" dirty="0">
                <a:latin typeface="Tahoma"/>
                <a:cs typeface="Tahoma"/>
              </a:rPr>
              <a:t> статус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ответа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Font typeface="Tahoma"/>
              <a:buChar char="●"/>
              <a:tabLst>
                <a:tab pos="469900" algn="l"/>
              </a:tabLst>
            </a:pPr>
            <a:r>
              <a:rPr sz="1800" spc="-10" dirty="0">
                <a:latin typeface="Courier New"/>
                <a:cs typeface="Courier New"/>
              </a:rPr>
              <a:t>response</a:t>
            </a:r>
            <a:r>
              <a:rPr sz="1800" spc="-600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тело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ответа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240" dirty="0"/>
              <a:t> </a:t>
            </a:r>
            <a:r>
              <a:rPr spc="-10" dirty="0"/>
              <a:t>(асинхронный</a:t>
            </a:r>
            <a:r>
              <a:rPr spc="204" dirty="0"/>
              <a:t> </a:t>
            </a:r>
            <a:r>
              <a:rPr spc="-10" dirty="0"/>
              <a:t>запрос)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136" y="1018031"/>
            <a:ext cx="7729728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204" dirty="0"/>
              <a:t> </a:t>
            </a:r>
            <a:r>
              <a:rPr spc="-10" dirty="0"/>
              <a:t>(синхронный</a:t>
            </a:r>
            <a:r>
              <a:rPr spc="170" dirty="0"/>
              <a:t> </a:t>
            </a:r>
            <a:r>
              <a:rPr spc="-10" dirty="0"/>
              <a:t>запрос)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70431"/>
            <a:ext cx="8839200" cy="355701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260" dirty="0"/>
              <a:t> </a:t>
            </a:r>
            <a:r>
              <a:rPr spc="-50" dirty="0"/>
              <a:t>(тип</a:t>
            </a:r>
            <a:r>
              <a:rPr spc="140" dirty="0"/>
              <a:t> </a:t>
            </a:r>
            <a:r>
              <a:rPr spc="-10" dirty="0"/>
              <a:t>ответа)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5970270" cy="16014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Courier New"/>
                <a:cs typeface="Courier New"/>
              </a:rPr>
              <a:t>text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строка</a:t>
            </a:r>
            <a:endParaRPr sz="1800">
              <a:latin typeface="Courier New"/>
              <a:cs typeface="Courier New"/>
            </a:endParaRPr>
          </a:p>
          <a:p>
            <a:pPr marL="353060" indent="-340360">
              <a:lnSpc>
                <a:spcPct val="100000"/>
              </a:lnSpc>
              <a:spcBef>
                <a:spcPts val="310"/>
              </a:spcBef>
              <a:buChar char="●"/>
              <a:tabLst>
                <a:tab pos="353060" algn="l"/>
              </a:tabLst>
            </a:pPr>
            <a:r>
              <a:rPr sz="1800" dirty="0">
                <a:latin typeface="Courier New"/>
                <a:cs typeface="Courier New"/>
              </a:rPr>
              <a:t>arrayBuffer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ArrayBuffer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бинарные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данные</a:t>
            </a:r>
            <a:endParaRPr sz="1800">
              <a:latin typeface="Courier New"/>
              <a:cs typeface="Courier New"/>
            </a:endParaRPr>
          </a:p>
          <a:p>
            <a:pPr marL="353060" indent="-340360">
              <a:lnSpc>
                <a:spcPct val="100000"/>
              </a:lnSpc>
              <a:spcBef>
                <a:spcPts val="340"/>
              </a:spcBef>
              <a:buChar char="●"/>
              <a:tabLst>
                <a:tab pos="353060" algn="l"/>
              </a:tabLst>
            </a:pPr>
            <a:r>
              <a:rPr sz="1800" dirty="0">
                <a:latin typeface="Courier New"/>
                <a:cs typeface="Courier New"/>
              </a:rPr>
              <a:t>blob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Blob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бинарные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данные</a:t>
            </a:r>
            <a:endParaRPr sz="1800">
              <a:latin typeface="Courier New"/>
              <a:cs typeface="Courier New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Courier New"/>
                <a:cs typeface="Courier New"/>
              </a:rPr>
              <a:t>document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10" dirty="0">
                <a:latin typeface="Courier New"/>
                <a:cs typeface="Courier New"/>
              </a:rPr>
              <a:t> XML-документ</a:t>
            </a:r>
            <a:endParaRPr sz="1800">
              <a:latin typeface="Courier New"/>
              <a:cs typeface="Courier New"/>
            </a:endParaRPr>
          </a:p>
          <a:p>
            <a:pPr marL="353060" indent="-340360">
              <a:lnSpc>
                <a:spcPct val="100000"/>
              </a:lnSpc>
              <a:spcBef>
                <a:spcPts val="340"/>
              </a:spcBef>
              <a:buChar char="●"/>
              <a:tabLst>
                <a:tab pos="353060" algn="l"/>
              </a:tabLst>
            </a:pPr>
            <a:r>
              <a:rPr sz="1800" dirty="0">
                <a:latin typeface="Courier New"/>
                <a:cs typeface="Courier New"/>
              </a:rPr>
              <a:t>json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JSON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(автоматически</a:t>
            </a:r>
            <a:r>
              <a:rPr sz="1800" spc="-1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парситься)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912" y="3124200"/>
            <a:ext cx="6132576" cy="123748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325" dirty="0"/>
              <a:t> </a:t>
            </a:r>
            <a:r>
              <a:rPr dirty="0"/>
              <a:t>(состояние</a:t>
            </a:r>
            <a:r>
              <a:rPr spc="210" dirty="0"/>
              <a:t> </a:t>
            </a:r>
            <a:r>
              <a:rPr spc="-10" dirty="0"/>
              <a:t>запроса)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6108700" cy="16014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Font typeface="Tahoma"/>
              <a:buChar char="●"/>
              <a:tabLst>
                <a:tab pos="353695" algn="l"/>
              </a:tabLst>
            </a:pPr>
            <a:r>
              <a:rPr sz="1800" dirty="0">
                <a:latin typeface="Courier New"/>
                <a:cs typeface="Courier New"/>
              </a:rPr>
              <a:t>UNSET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0</a:t>
            </a:r>
            <a:r>
              <a:rPr sz="1800" spc="20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исходное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состояние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Font typeface="Tahoma"/>
              <a:buChar char="●"/>
              <a:tabLst>
                <a:tab pos="353695" algn="l"/>
              </a:tabLst>
            </a:pPr>
            <a:r>
              <a:rPr sz="1800" dirty="0">
                <a:latin typeface="Courier New"/>
                <a:cs typeface="Courier New"/>
              </a:rPr>
              <a:t>OPENED =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1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вызван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метод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open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Font typeface="Tahoma"/>
              <a:buChar char="●"/>
              <a:tabLst>
                <a:tab pos="353695" algn="l"/>
              </a:tabLst>
            </a:pPr>
            <a:r>
              <a:rPr sz="1800" dirty="0">
                <a:latin typeface="Courier New"/>
                <a:cs typeface="Courier New"/>
              </a:rPr>
              <a:t>HEADERS_RECEIVED</a:t>
            </a:r>
            <a:r>
              <a:rPr sz="1800" spc="-1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2</a:t>
            </a:r>
            <a:r>
              <a:rPr sz="1800" spc="-575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получены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заголовки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отета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Font typeface="Tahoma"/>
              <a:buChar char="●"/>
              <a:tabLst>
                <a:tab pos="353695" algn="l"/>
              </a:tabLst>
            </a:pPr>
            <a:r>
              <a:rPr sz="1800" dirty="0">
                <a:latin typeface="Courier New"/>
                <a:cs typeface="Courier New"/>
              </a:rPr>
              <a:t>LOADING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3</a:t>
            </a:r>
            <a:r>
              <a:rPr sz="1800" spc="-550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процессе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передачи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Font typeface="Tahoma"/>
              <a:buChar char="●"/>
              <a:tabLst>
                <a:tab pos="353695" algn="l"/>
              </a:tabLst>
            </a:pPr>
            <a:r>
              <a:rPr sz="1800" dirty="0">
                <a:latin typeface="Courier New"/>
                <a:cs typeface="Courier New"/>
              </a:rPr>
              <a:t>DONE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4</a:t>
            </a:r>
            <a:r>
              <a:rPr sz="1800" spc="-600" dirty="0">
                <a:latin typeface="Courier New"/>
                <a:cs typeface="Courier New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завершен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72511"/>
            <a:ext cx="3892296" cy="219151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315" dirty="0"/>
              <a:t> </a:t>
            </a:r>
            <a:r>
              <a:rPr dirty="0"/>
              <a:t>(отмена</a:t>
            </a:r>
            <a:r>
              <a:rPr spc="170" dirty="0"/>
              <a:t> </a:t>
            </a:r>
            <a:r>
              <a:rPr spc="-10" dirty="0"/>
              <a:t>запроса)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1953767"/>
            <a:ext cx="3712463" cy="123748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555" dirty="0"/>
              <a:t> </a:t>
            </a:r>
            <a:r>
              <a:rPr spc="50" dirty="0"/>
              <a:t>(HTTP-</a:t>
            </a:r>
            <a:r>
              <a:rPr spc="-10" dirty="0"/>
              <a:t>заголовки)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70431"/>
            <a:ext cx="8839200" cy="316991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550" dirty="0"/>
              <a:t> </a:t>
            </a:r>
            <a:r>
              <a:rPr spc="90" dirty="0"/>
              <a:t>(POST-</a:t>
            </a:r>
            <a:r>
              <a:rPr spc="-10" dirty="0"/>
              <a:t>запрос)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448" y="1094231"/>
            <a:ext cx="5023104" cy="381914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550" dirty="0"/>
              <a:t> </a:t>
            </a:r>
            <a:r>
              <a:rPr spc="90" dirty="0"/>
              <a:t>(POST-</a:t>
            </a:r>
            <a:r>
              <a:rPr spc="-10" dirty="0"/>
              <a:t>запрос)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70431"/>
            <a:ext cx="8839200" cy="335889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XMLHttpRequest</a:t>
            </a:r>
            <a:r>
              <a:rPr spc="265" dirty="0"/>
              <a:t> </a:t>
            </a:r>
            <a:r>
              <a:rPr spc="-10" dirty="0"/>
              <a:t>(прогресс</a:t>
            </a:r>
            <a:r>
              <a:rPr spc="155" dirty="0"/>
              <a:t> </a:t>
            </a:r>
            <a:r>
              <a:rPr spc="-10" dirty="0"/>
              <a:t>отправки)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70431"/>
            <a:ext cx="8705088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685"/>
              </a:spcBef>
            </a:pPr>
            <a:r>
              <a:rPr sz="3600" spc="70" dirty="0"/>
              <a:t>Cookie</a:t>
            </a:r>
            <a:endParaRPr sz="3600"/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585858"/>
                </a:solidFill>
              </a:rPr>
              <a:t>Подробнее</a:t>
            </a:r>
            <a:r>
              <a:rPr sz="1800" spc="-15" dirty="0">
                <a:solidFill>
                  <a:srgbClr val="585858"/>
                </a:solidFill>
              </a:rPr>
              <a:t> </a:t>
            </a:r>
            <a:r>
              <a:rPr sz="1800" dirty="0">
                <a:solidFill>
                  <a:srgbClr val="585858"/>
                </a:solidFill>
              </a:rPr>
              <a:t>тут</a:t>
            </a:r>
            <a:r>
              <a:rPr sz="1800" spc="90" dirty="0">
                <a:solidFill>
                  <a:srgbClr val="585858"/>
                </a:solidFill>
              </a:rPr>
              <a:t> </a:t>
            </a:r>
            <a:r>
              <a:rPr sz="1800" spc="-20" dirty="0">
                <a:solidFill>
                  <a:srgbClr val="585858"/>
                </a:solidFill>
              </a:rPr>
              <a:t>https://learn.javascript.ru/cookie</a:t>
            </a:r>
            <a:endParaRPr sz="1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3024" y="295319"/>
            <a:ext cx="5883522" cy="465919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3958" y="2329433"/>
            <a:ext cx="5737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95" dirty="0"/>
              <a:t>HTTP</a:t>
            </a:r>
            <a:r>
              <a:rPr sz="3600" spc="-105" dirty="0"/>
              <a:t> </a:t>
            </a:r>
            <a:r>
              <a:rPr sz="3600" spc="70" dirty="0"/>
              <a:t>is</a:t>
            </a:r>
            <a:r>
              <a:rPr sz="3600" spc="-35" dirty="0"/>
              <a:t> </a:t>
            </a:r>
            <a:r>
              <a:rPr sz="3600" spc="110" dirty="0"/>
              <a:t>a</a:t>
            </a:r>
            <a:r>
              <a:rPr sz="3600" spc="-35" dirty="0"/>
              <a:t> </a:t>
            </a:r>
            <a:r>
              <a:rPr sz="3600" dirty="0"/>
              <a:t>stateless</a:t>
            </a:r>
            <a:r>
              <a:rPr sz="3600" spc="-15" dirty="0"/>
              <a:t> </a:t>
            </a:r>
            <a:r>
              <a:rPr sz="3600" spc="-10" dirty="0"/>
              <a:t>protocol</a:t>
            </a:r>
            <a:endParaRPr sz="36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Cookie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85"/>
              </a:spcBef>
            </a:pPr>
            <a:r>
              <a:rPr spc="-10" dirty="0">
                <a:latin typeface="Courier New"/>
                <a:cs typeface="Courier New"/>
              </a:rPr>
              <a:t>Cookie</a:t>
            </a:r>
            <a:r>
              <a:rPr spc="-490" dirty="0">
                <a:latin typeface="Courier New"/>
                <a:cs typeface="Courier New"/>
              </a:rPr>
              <a:t> </a:t>
            </a:r>
            <a:r>
              <a:rPr dirty="0"/>
              <a:t>-</a:t>
            </a:r>
            <a:r>
              <a:rPr spc="30" dirty="0"/>
              <a:t> </a:t>
            </a:r>
            <a:r>
              <a:rPr dirty="0"/>
              <a:t>небольшой</a:t>
            </a:r>
            <a:r>
              <a:rPr spc="60" dirty="0"/>
              <a:t> </a:t>
            </a:r>
            <a:r>
              <a:rPr dirty="0"/>
              <a:t>фрагмент</a:t>
            </a:r>
            <a:r>
              <a:rPr spc="15" dirty="0"/>
              <a:t> </a:t>
            </a:r>
            <a:r>
              <a:rPr dirty="0"/>
              <a:t>данных,</a:t>
            </a:r>
            <a:r>
              <a:rPr spc="125" dirty="0"/>
              <a:t> </a:t>
            </a:r>
            <a:r>
              <a:rPr dirty="0"/>
              <a:t>отправленный</a:t>
            </a:r>
            <a:r>
              <a:rPr spc="60" dirty="0"/>
              <a:t> </a:t>
            </a:r>
            <a:r>
              <a:rPr dirty="0"/>
              <a:t>веб-сервером</a:t>
            </a:r>
            <a:r>
              <a:rPr spc="-55" dirty="0"/>
              <a:t> </a:t>
            </a:r>
            <a:r>
              <a:rPr spc="-50" dirty="0"/>
              <a:t>и </a:t>
            </a:r>
            <a:r>
              <a:rPr dirty="0"/>
              <a:t>хранимый</a:t>
            </a:r>
            <a:r>
              <a:rPr spc="5" dirty="0"/>
              <a:t> </a:t>
            </a:r>
            <a:r>
              <a:rPr dirty="0"/>
              <a:t>на</a:t>
            </a:r>
            <a:r>
              <a:rPr spc="45" dirty="0"/>
              <a:t> </a:t>
            </a:r>
            <a:r>
              <a:rPr dirty="0"/>
              <a:t>компьютере</a:t>
            </a:r>
            <a:r>
              <a:rPr spc="-40" dirty="0"/>
              <a:t> </a:t>
            </a:r>
            <a:r>
              <a:rPr dirty="0"/>
              <a:t>пользователя.</a:t>
            </a:r>
            <a:r>
              <a:rPr spc="-35" dirty="0"/>
              <a:t> </a:t>
            </a:r>
            <a:r>
              <a:rPr dirty="0"/>
              <a:t>Веб-</a:t>
            </a:r>
            <a:r>
              <a:rPr spc="-10" dirty="0"/>
              <a:t>клиент</a:t>
            </a:r>
            <a:r>
              <a:rPr spc="-30" dirty="0"/>
              <a:t> </a:t>
            </a:r>
            <a:r>
              <a:rPr spc="-10" dirty="0"/>
              <a:t>всякий</a:t>
            </a:r>
            <a:r>
              <a:rPr spc="-35" dirty="0"/>
              <a:t> </a:t>
            </a:r>
            <a:r>
              <a:rPr dirty="0"/>
              <a:t>раз</a:t>
            </a:r>
            <a:r>
              <a:rPr spc="-5" dirty="0"/>
              <a:t> </a:t>
            </a:r>
            <a:r>
              <a:rPr spc="-25" dirty="0"/>
              <a:t>при </a:t>
            </a:r>
            <a:r>
              <a:rPr spc="-10" dirty="0"/>
              <a:t>попытке</a:t>
            </a:r>
            <a:r>
              <a:rPr spc="5" dirty="0"/>
              <a:t> </a:t>
            </a:r>
            <a:r>
              <a:rPr dirty="0"/>
              <a:t>открыть</a:t>
            </a:r>
            <a:r>
              <a:rPr spc="25" dirty="0"/>
              <a:t> </a:t>
            </a:r>
            <a:r>
              <a:rPr dirty="0"/>
              <a:t>страницу</a:t>
            </a:r>
            <a:r>
              <a:rPr spc="-15" dirty="0"/>
              <a:t> </a:t>
            </a:r>
            <a:r>
              <a:rPr dirty="0"/>
              <a:t>соответствующего</a:t>
            </a:r>
            <a:r>
              <a:rPr spc="30" dirty="0"/>
              <a:t> </a:t>
            </a:r>
            <a:r>
              <a:rPr dirty="0"/>
              <a:t>сайта</a:t>
            </a:r>
            <a:r>
              <a:rPr spc="-25" dirty="0"/>
              <a:t> </a:t>
            </a:r>
            <a:r>
              <a:rPr dirty="0"/>
              <a:t>пересылает</a:t>
            </a:r>
            <a:r>
              <a:rPr spc="-40" dirty="0"/>
              <a:t> </a:t>
            </a:r>
            <a:r>
              <a:rPr spc="-20" dirty="0"/>
              <a:t>этот </a:t>
            </a:r>
            <a:r>
              <a:rPr dirty="0"/>
              <a:t>фрагмент данных</a:t>
            </a:r>
            <a:r>
              <a:rPr spc="25" dirty="0"/>
              <a:t> </a:t>
            </a:r>
            <a:r>
              <a:rPr dirty="0"/>
              <a:t>веб-серверу</a:t>
            </a:r>
            <a:r>
              <a:rPr spc="-50" dirty="0"/>
              <a:t> </a:t>
            </a:r>
            <a:r>
              <a:rPr dirty="0"/>
              <a:t>в</a:t>
            </a:r>
            <a:r>
              <a:rPr spc="20" dirty="0"/>
              <a:t> </a:t>
            </a:r>
            <a:r>
              <a:rPr dirty="0"/>
              <a:t>виде</a:t>
            </a:r>
            <a:r>
              <a:rPr spc="-5" dirty="0"/>
              <a:t> </a:t>
            </a:r>
            <a:r>
              <a:rPr spc="85" dirty="0"/>
              <a:t>HTTP</a:t>
            </a:r>
            <a:r>
              <a:rPr spc="70" dirty="0"/>
              <a:t> </a:t>
            </a:r>
            <a:r>
              <a:rPr dirty="0"/>
              <a:t>-</a:t>
            </a:r>
            <a:r>
              <a:rPr spc="20" dirty="0"/>
              <a:t> </a:t>
            </a:r>
            <a:r>
              <a:rPr spc="-10" dirty="0"/>
              <a:t>запросы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Cookie</a:t>
            </a:r>
            <a:r>
              <a:rPr spc="-75" dirty="0"/>
              <a:t> </a:t>
            </a:r>
            <a:r>
              <a:rPr spc="-10" dirty="0"/>
              <a:t>(спецификация)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5935980" cy="12846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Браузер должен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хранить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как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минимум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4096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байт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кук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Минимум 20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шт. на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домен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Минимум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300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шт.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всего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Имена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не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чувствительны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spc="-120" dirty="0">
                <a:latin typeface="Tahoma"/>
                <a:cs typeface="Tahoma"/>
              </a:rPr>
              <a:t>к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регистру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155" dirty="0"/>
              <a:t> </a:t>
            </a:r>
            <a:r>
              <a:rPr spc="55" dirty="0"/>
              <a:t>Cookie</a:t>
            </a:r>
            <a:r>
              <a:rPr spc="-120" dirty="0"/>
              <a:t> </a:t>
            </a:r>
            <a:r>
              <a:rPr spc="-25" dirty="0"/>
              <a:t>(клиент</a:t>
            </a:r>
            <a:r>
              <a:rPr spc="-95" dirty="0"/>
              <a:t> </a:t>
            </a:r>
            <a:r>
              <a:rPr spc="-85" dirty="0"/>
              <a:t>-</a:t>
            </a:r>
            <a:r>
              <a:rPr spc="-385" dirty="0"/>
              <a:t>&gt;</a:t>
            </a:r>
            <a:r>
              <a:rPr spc="-85" dirty="0"/>
              <a:t> </a:t>
            </a:r>
            <a:r>
              <a:rPr spc="-10" dirty="0"/>
              <a:t>сервер)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379" y="1752985"/>
            <a:ext cx="4580764" cy="164858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140" dirty="0"/>
              <a:t> </a:t>
            </a:r>
            <a:r>
              <a:rPr spc="55" dirty="0"/>
              <a:t>Cookie</a:t>
            </a:r>
            <a:r>
              <a:rPr spc="-110" dirty="0"/>
              <a:t> </a:t>
            </a:r>
            <a:r>
              <a:rPr spc="-30" dirty="0"/>
              <a:t>(клиент</a:t>
            </a:r>
            <a:r>
              <a:rPr spc="-105" dirty="0"/>
              <a:t> </a:t>
            </a:r>
            <a:r>
              <a:rPr spc="-225" dirty="0"/>
              <a:t>&lt;-</a:t>
            </a:r>
            <a:r>
              <a:rPr spc="-80" dirty="0"/>
              <a:t> </a:t>
            </a:r>
            <a:r>
              <a:rPr spc="-10" dirty="0"/>
              <a:t>сервер)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1270" y="1542287"/>
            <a:ext cx="5610985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155" dirty="0"/>
              <a:t> </a:t>
            </a:r>
            <a:r>
              <a:rPr spc="55" dirty="0"/>
              <a:t>Cookie</a:t>
            </a:r>
            <a:r>
              <a:rPr spc="-120" dirty="0"/>
              <a:t> </a:t>
            </a:r>
            <a:r>
              <a:rPr spc="-25" dirty="0"/>
              <a:t>(клиент</a:t>
            </a:r>
            <a:r>
              <a:rPr spc="-95" dirty="0"/>
              <a:t> </a:t>
            </a:r>
            <a:r>
              <a:rPr spc="-85" dirty="0"/>
              <a:t>-</a:t>
            </a:r>
            <a:r>
              <a:rPr spc="-385" dirty="0"/>
              <a:t>&gt;</a:t>
            </a:r>
            <a:r>
              <a:rPr spc="-85" dirty="0"/>
              <a:t> </a:t>
            </a:r>
            <a:r>
              <a:rPr spc="-10" dirty="0"/>
              <a:t>сервер)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1511" y="1542287"/>
            <a:ext cx="4760976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155" dirty="0"/>
              <a:t> </a:t>
            </a:r>
            <a:r>
              <a:rPr spc="55" dirty="0"/>
              <a:t>Cookie</a:t>
            </a:r>
            <a:r>
              <a:rPr spc="-120" dirty="0"/>
              <a:t> </a:t>
            </a:r>
            <a:r>
              <a:rPr spc="-25" dirty="0"/>
              <a:t>(клиент</a:t>
            </a:r>
            <a:r>
              <a:rPr spc="-95" dirty="0"/>
              <a:t> </a:t>
            </a:r>
            <a:r>
              <a:rPr spc="-85" dirty="0"/>
              <a:t>-</a:t>
            </a:r>
            <a:r>
              <a:rPr spc="-385" dirty="0"/>
              <a:t>&gt;</a:t>
            </a:r>
            <a:r>
              <a:rPr spc="-85" dirty="0"/>
              <a:t> </a:t>
            </a:r>
            <a:r>
              <a:rPr spc="-10" dirty="0"/>
              <a:t>сервер)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1270" y="1542287"/>
            <a:ext cx="5610985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-160" dirty="0"/>
              <a:t> </a:t>
            </a:r>
            <a:r>
              <a:rPr spc="55" dirty="0"/>
              <a:t>Cookie</a:t>
            </a:r>
            <a:r>
              <a:rPr spc="-120" dirty="0"/>
              <a:t> </a:t>
            </a:r>
            <a:r>
              <a:rPr spc="-25" dirty="0"/>
              <a:t>(клиент</a:t>
            </a:r>
            <a:r>
              <a:rPr spc="-95" dirty="0"/>
              <a:t> </a:t>
            </a:r>
            <a:r>
              <a:rPr spc="-85" dirty="0"/>
              <a:t>-</a:t>
            </a:r>
            <a:r>
              <a:rPr spc="-385" dirty="0"/>
              <a:t>&gt;</a:t>
            </a:r>
            <a:r>
              <a:rPr spc="-85" dirty="0"/>
              <a:t> </a:t>
            </a:r>
            <a:r>
              <a:rPr spc="-10" dirty="0"/>
              <a:t>сервер)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5688" y="1542287"/>
            <a:ext cx="4922143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Cookie</a:t>
            </a:r>
            <a:r>
              <a:rPr spc="-75" dirty="0"/>
              <a:t> </a:t>
            </a:r>
            <a:r>
              <a:rPr spc="-10" dirty="0"/>
              <a:t>(использование)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3961765" cy="16014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Аутентификация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пользователя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Хранение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настроек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пользователя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Отслеживание</a:t>
            </a:r>
            <a:r>
              <a:rPr sz="1800" spc="1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сеанса</a:t>
            </a:r>
            <a:r>
              <a:rPr sz="1800" spc="9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(сессия)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spc="65" dirty="0">
                <a:latin typeface="Tahoma"/>
                <a:cs typeface="Tahoma"/>
              </a:rPr>
              <a:t>Сбор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статистики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Проведение</a:t>
            </a:r>
            <a:r>
              <a:rPr sz="1800" spc="1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экспериментов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Cookie</a:t>
            </a:r>
            <a:r>
              <a:rPr spc="-75" dirty="0"/>
              <a:t> </a:t>
            </a:r>
            <a:r>
              <a:rPr spc="-10" dirty="0"/>
              <a:t>(параметры)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6577330" cy="19157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Expires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дата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истечения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срока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действия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куки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Max-</a:t>
            </a:r>
            <a:r>
              <a:rPr sz="1800" spc="55" dirty="0">
                <a:latin typeface="Tahoma"/>
                <a:cs typeface="Tahoma"/>
              </a:rPr>
              <a:t>Age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срок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действия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куки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секундах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Domain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домен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определяет,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где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доступен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файл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куки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Path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урл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префикс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пути,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которому</a:t>
            </a:r>
            <a:r>
              <a:rPr sz="1800" spc="-70" dirty="0">
                <a:latin typeface="Tahoma"/>
                <a:cs typeface="Tahoma"/>
              </a:rPr>
              <a:t> куки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будут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доступны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spc="50" dirty="0">
                <a:latin typeface="Tahoma"/>
                <a:cs typeface="Tahoma"/>
              </a:rPr>
              <a:t>Secure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куки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следует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передавать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только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90" dirty="0">
                <a:latin typeface="Tahoma"/>
                <a:cs typeface="Tahoma"/>
              </a:rPr>
              <a:t>HTTPS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5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HttpOnly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запрет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получение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70" dirty="0">
                <a:latin typeface="Tahoma"/>
                <a:cs typeface="Tahoma"/>
              </a:rPr>
              <a:t>куки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из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JavaScript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Cookie</a:t>
            </a:r>
            <a:r>
              <a:rPr spc="-75" dirty="0"/>
              <a:t> </a:t>
            </a:r>
            <a:r>
              <a:rPr spc="-10" dirty="0"/>
              <a:t>(JavaScript)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792223"/>
            <a:ext cx="8839200" cy="1560576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Cookie</a:t>
            </a:r>
            <a:r>
              <a:rPr spc="-75" dirty="0"/>
              <a:t> </a:t>
            </a:r>
            <a:r>
              <a:rPr spc="-10" dirty="0"/>
              <a:t>(XHR)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882" y="1828800"/>
            <a:ext cx="8822234" cy="220370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685"/>
              </a:spcBef>
            </a:pPr>
            <a:r>
              <a:rPr sz="3600" spc="130" dirty="0"/>
              <a:t>Same</a:t>
            </a:r>
            <a:r>
              <a:rPr sz="3600" spc="-125" dirty="0"/>
              <a:t> </a:t>
            </a:r>
            <a:r>
              <a:rPr sz="3600" dirty="0"/>
              <a:t>Origin</a:t>
            </a:r>
            <a:r>
              <a:rPr sz="3600" spc="-105" dirty="0"/>
              <a:t> </a:t>
            </a:r>
            <a:r>
              <a:rPr sz="3600" spc="70" dirty="0"/>
              <a:t>Policy</a:t>
            </a:r>
            <a:endParaRPr sz="3600"/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solidFill>
                  <a:srgbClr val="585858"/>
                </a:solidFill>
              </a:rPr>
              <a:t>Подробнее</a:t>
            </a:r>
            <a:r>
              <a:rPr sz="1800" spc="95" dirty="0">
                <a:solidFill>
                  <a:srgbClr val="585858"/>
                </a:solidFill>
              </a:rPr>
              <a:t> </a:t>
            </a:r>
            <a:r>
              <a:rPr sz="1800" dirty="0">
                <a:solidFill>
                  <a:srgbClr val="585858"/>
                </a:solidFill>
              </a:rPr>
              <a:t>тут</a:t>
            </a:r>
            <a:r>
              <a:rPr sz="1800" spc="210" dirty="0">
                <a:solidFill>
                  <a:srgbClr val="585858"/>
                </a:solidFill>
              </a:rPr>
              <a:t> </a:t>
            </a:r>
            <a:r>
              <a:rPr sz="1800" spc="-40" dirty="0">
                <a:solidFill>
                  <a:srgbClr val="585858"/>
                </a:solidFill>
              </a:rPr>
              <a:t>https://learn.javascript.ru/fetch-</a:t>
            </a:r>
            <a:r>
              <a:rPr sz="1800" spc="-10" dirty="0">
                <a:solidFill>
                  <a:srgbClr val="585858"/>
                </a:solidFill>
              </a:rPr>
              <a:t>crossorigin</a:t>
            </a:r>
            <a:endParaRPr sz="18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Same</a:t>
            </a:r>
            <a:r>
              <a:rPr spc="-90" dirty="0"/>
              <a:t> </a:t>
            </a:r>
            <a:r>
              <a:rPr dirty="0"/>
              <a:t>Origin</a:t>
            </a:r>
            <a:r>
              <a:rPr spc="-85" dirty="0"/>
              <a:t> </a:t>
            </a:r>
            <a:r>
              <a:rPr spc="40"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891780" cy="16014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spc="65" dirty="0">
                <a:latin typeface="Tahoma"/>
                <a:cs typeface="Tahoma"/>
              </a:rPr>
              <a:t>Same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Origin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Policy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(правило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ограничения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домена)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это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важное</a:t>
            </a:r>
            <a:r>
              <a:rPr sz="1800" spc="5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концепция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безопасности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работы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web-</a:t>
            </a:r>
            <a:r>
              <a:rPr sz="1800" spc="-10" dirty="0">
                <a:latin typeface="Tahoma"/>
                <a:cs typeface="Tahoma"/>
              </a:rPr>
              <a:t>приложения.</a:t>
            </a:r>
            <a:r>
              <a:rPr sz="1800" dirty="0">
                <a:latin typeface="Tahoma"/>
                <a:cs typeface="Tahoma"/>
              </a:rPr>
              <a:t> Она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призвана ограничивать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возможности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пользовательских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сценариев </a:t>
            </a:r>
            <a:r>
              <a:rPr sz="1800" spc="-25" dirty="0">
                <a:latin typeface="Tahoma"/>
                <a:cs typeface="Tahoma"/>
              </a:rPr>
              <a:t>из </a:t>
            </a:r>
            <a:r>
              <a:rPr sz="1800" dirty="0">
                <a:latin typeface="Tahoma"/>
                <a:cs typeface="Tahoma"/>
              </a:rPr>
              <a:t>определенного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источника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доступу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25" dirty="0">
                <a:latin typeface="Tahoma"/>
                <a:cs typeface="Tahoma"/>
              </a:rPr>
              <a:t>к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ресурсам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 информации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из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других источников.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Same</a:t>
            </a:r>
            <a:r>
              <a:rPr spc="-85" dirty="0"/>
              <a:t> </a:t>
            </a:r>
            <a:r>
              <a:rPr dirty="0"/>
              <a:t>Origin</a:t>
            </a:r>
            <a:r>
              <a:rPr spc="-85" dirty="0"/>
              <a:t> </a:t>
            </a:r>
            <a:r>
              <a:rPr spc="50" dirty="0"/>
              <a:t>Policy</a:t>
            </a:r>
            <a:r>
              <a:rPr spc="-85" dirty="0"/>
              <a:t> </a:t>
            </a:r>
            <a:r>
              <a:rPr spc="-35" dirty="0"/>
              <a:t>(источник)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732395" cy="6534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Два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120" dirty="0">
                <a:latin typeface="Tahoma"/>
                <a:cs typeface="Tahoma"/>
              </a:rPr>
              <a:t>URL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считаются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имеющими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один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источник </a:t>
            </a:r>
            <a:r>
              <a:rPr sz="1800" dirty="0">
                <a:latin typeface="Tahoma"/>
                <a:cs typeface="Tahoma"/>
              </a:rPr>
              <a:t>(“same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origin”),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если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</a:t>
            </a:r>
            <a:r>
              <a:rPr sz="1800" spc="-25" dirty="0">
                <a:latin typeface="Tahoma"/>
                <a:cs typeface="Tahoma"/>
              </a:rPr>
              <a:t> них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Tahoma"/>
                <a:cs typeface="Tahoma"/>
              </a:rPr>
              <a:t>одинаковый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протокол,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домен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порт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Same</a:t>
            </a:r>
            <a:r>
              <a:rPr spc="-105" dirty="0"/>
              <a:t> </a:t>
            </a:r>
            <a:r>
              <a:rPr dirty="0"/>
              <a:t>Origin</a:t>
            </a:r>
            <a:r>
              <a:rPr spc="-105" dirty="0"/>
              <a:t> </a:t>
            </a:r>
            <a:r>
              <a:rPr spc="50" dirty="0"/>
              <a:t>Policy</a:t>
            </a:r>
            <a:r>
              <a:rPr spc="-105" dirty="0"/>
              <a:t> </a:t>
            </a:r>
            <a:r>
              <a:rPr spc="-10" dirty="0"/>
              <a:t>(одинаковый</a:t>
            </a:r>
            <a:r>
              <a:rPr spc="-80" dirty="0"/>
              <a:t> </a:t>
            </a:r>
            <a:r>
              <a:rPr spc="-10" dirty="0"/>
              <a:t>источник)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3230880" cy="9702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spc="-10" dirty="0">
                <a:latin typeface="Tahoma"/>
                <a:cs typeface="Tahoma"/>
                <a:hlinkClick r:id="rId2"/>
              </a:rPr>
              <a:t>http://site.com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spc="-10" dirty="0">
                <a:latin typeface="Tahoma"/>
                <a:cs typeface="Tahoma"/>
                <a:hlinkClick r:id="rId2"/>
              </a:rPr>
              <a:t>http://site.com/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spc="-45" dirty="0">
                <a:latin typeface="Tahoma"/>
                <a:cs typeface="Tahoma"/>
                <a:hlinkClick r:id="rId3"/>
              </a:rPr>
              <a:t>http://site.com/my/page.html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515238"/>
            <a:ext cx="55010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Same</a:t>
            </a:r>
            <a:r>
              <a:rPr spc="-95" dirty="0"/>
              <a:t> </a:t>
            </a:r>
            <a:r>
              <a:rPr dirty="0"/>
              <a:t>Origin</a:t>
            </a:r>
            <a:r>
              <a:rPr spc="-90" dirty="0"/>
              <a:t> </a:t>
            </a:r>
            <a:r>
              <a:rPr spc="50" dirty="0"/>
              <a:t>Policy</a:t>
            </a:r>
            <a:r>
              <a:rPr spc="-95" dirty="0"/>
              <a:t> </a:t>
            </a:r>
            <a:r>
              <a:rPr dirty="0"/>
              <a:t>(разные</a:t>
            </a:r>
            <a:r>
              <a:rPr spc="-90" dirty="0"/>
              <a:t> </a:t>
            </a:r>
            <a:r>
              <a:rPr spc="-10" dirty="0"/>
              <a:t>источник)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4050029" cy="16014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sz="1800" spc="-10" dirty="0">
                <a:latin typeface="Tahoma"/>
                <a:cs typeface="Tahoma"/>
                <a:hlinkClick r:id="rId2"/>
              </a:rPr>
              <a:t>http://site.com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Font typeface="Times New Roman"/>
              <a:buChar char="●"/>
              <a:tabLst>
                <a:tab pos="353695" algn="l"/>
              </a:tabLst>
            </a:pPr>
            <a:r>
              <a:rPr sz="1800" spc="-45" dirty="0">
                <a:latin typeface="Tahoma"/>
                <a:cs typeface="Tahoma"/>
                <a:hlinkClick r:id="rId3"/>
              </a:rPr>
              <a:t>http://</a:t>
            </a:r>
            <a:r>
              <a:rPr sz="1800" b="1" spc="-45" dirty="0">
                <a:latin typeface="Arial"/>
                <a:cs typeface="Arial"/>
                <a:hlinkClick r:id="rId3"/>
              </a:rPr>
              <a:t>www</a:t>
            </a:r>
            <a:r>
              <a:rPr sz="1800" spc="-45" dirty="0">
                <a:latin typeface="Tahoma"/>
                <a:cs typeface="Tahoma"/>
                <a:hlinkClick r:id="rId3"/>
              </a:rPr>
              <a:t>.site.com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(другой </a:t>
            </a:r>
            <a:r>
              <a:rPr sz="1800" spc="-10" dirty="0">
                <a:latin typeface="Tahoma"/>
                <a:cs typeface="Tahoma"/>
              </a:rPr>
              <a:t>домен)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Font typeface="Times New Roman"/>
              <a:buChar char="●"/>
              <a:tabLst>
                <a:tab pos="353695" algn="l"/>
              </a:tabLst>
            </a:pPr>
            <a:r>
              <a:rPr sz="1800" spc="-50" dirty="0">
                <a:latin typeface="Tahoma"/>
                <a:cs typeface="Tahoma"/>
                <a:hlinkClick r:id="rId4"/>
              </a:rPr>
              <a:t>http://site.</a:t>
            </a:r>
            <a:r>
              <a:rPr sz="1800" b="1" spc="-50" dirty="0">
                <a:latin typeface="Arial"/>
                <a:cs typeface="Arial"/>
                <a:hlinkClick r:id="rId4"/>
              </a:rPr>
              <a:t>org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spc="-25" dirty="0">
                <a:latin typeface="Tahoma"/>
                <a:cs typeface="Tahoma"/>
              </a:rPr>
              <a:t>(другой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домен)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Font typeface="Times New Roman"/>
              <a:buChar char="●"/>
              <a:tabLst>
                <a:tab pos="353695" algn="l"/>
              </a:tabLst>
            </a:pPr>
            <a:r>
              <a:rPr sz="1800" b="1" spc="-35" dirty="0">
                <a:latin typeface="Arial"/>
                <a:cs typeface="Arial"/>
              </a:rPr>
              <a:t>https</a:t>
            </a:r>
            <a:r>
              <a:rPr sz="1800" spc="-35" dirty="0">
                <a:latin typeface="Tahoma"/>
                <a:cs typeface="Tahoma"/>
              </a:rPr>
              <a:t>://site.com</a:t>
            </a:r>
            <a:r>
              <a:rPr sz="1800" spc="-1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(другой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протокол)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Font typeface="Times New Roman"/>
              <a:buChar char="●"/>
              <a:tabLst>
                <a:tab pos="353695" algn="l"/>
              </a:tabLst>
            </a:pPr>
            <a:r>
              <a:rPr sz="1800" spc="-45" dirty="0">
                <a:latin typeface="Tahoma"/>
                <a:cs typeface="Tahoma"/>
                <a:hlinkClick r:id="rId5"/>
              </a:rPr>
              <a:t>http://site.com:</a:t>
            </a:r>
            <a:r>
              <a:rPr sz="1800" b="1" spc="-45" dirty="0">
                <a:latin typeface="Arial"/>
                <a:cs typeface="Arial"/>
                <a:hlinkClick r:id="rId5"/>
              </a:rPr>
              <a:t>8080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spc="-20" dirty="0">
                <a:latin typeface="Tahoma"/>
                <a:cs typeface="Tahoma"/>
              </a:rPr>
              <a:t>(другой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порт)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Same</a:t>
            </a:r>
            <a:r>
              <a:rPr spc="-55" dirty="0"/>
              <a:t> </a:t>
            </a:r>
            <a:r>
              <a:rPr dirty="0"/>
              <a:t>Origin</a:t>
            </a:r>
            <a:r>
              <a:rPr spc="-50" dirty="0"/>
              <a:t> </a:t>
            </a:r>
            <a:r>
              <a:rPr spc="50" dirty="0"/>
              <a:t>Policy</a:t>
            </a:r>
            <a:r>
              <a:rPr spc="-55" dirty="0"/>
              <a:t> </a:t>
            </a:r>
            <a:r>
              <a:rPr spc="-20" dirty="0"/>
              <a:t>(типы </a:t>
            </a:r>
            <a:r>
              <a:rPr dirty="0"/>
              <a:t>взаимодействия</a:t>
            </a:r>
            <a:r>
              <a:rPr spc="-35" dirty="0"/>
              <a:t> </a:t>
            </a:r>
            <a:r>
              <a:rPr spc="90" dirty="0"/>
              <a:t>с</a:t>
            </a:r>
            <a:r>
              <a:rPr spc="-50" dirty="0"/>
              <a:t> </a:t>
            </a:r>
            <a:r>
              <a:rPr spc="-10" dirty="0"/>
              <a:t>ресурсами)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7606665" cy="16014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Font typeface="Times New Roman"/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Запись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ресурсы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переходы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ссылкам,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редиректы,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сабмит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35" dirty="0">
                <a:latin typeface="Tahoma"/>
                <a:cs typeface="Tahoma"/>
              </a:rPr>
              <a:t>форм</a:t>
            </a:r>
            <a:endParaRPr sz="1800">
              <a:latin typeface="Tahoma"/>
              <a:cs typeface="Tahoma"/>
            </a:endParaRPr>
          </a:p>
          <a:p>
            <a:pPr marL="354330" marR="226060" indent="-342265">
              <a:lnSpc>
                <a:spcPts val="2500"/>
              </a:lnSpc>
              <a:spcBef>
                <a:spcPts val="110"/>
              </a:spcBef>
              <a:buChar char="●"/>
              <a:tabLst>
                <a:tab pos="354330" algn="l"/>
              </a:tabLst>
            </a:pPr>
            <a:r>
              <a:rPr sz="1800" dirty="0">
                <a:latin typeface="Tahoma"/>
                <a:cs typeface="Tahoma"/>
              </a:rPr>
              <a:t>Встраивание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ресурсов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другие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ресурсы</a:t>
            </a:r>
            <a:r>
              <a:rPr sz="1800" spc="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добавление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JavaScript, </a:t>
            </a:r>
            <a:r>
              <a:rPr sz="1800" spc="135" dirty="0">
                <a:latin typeface="Tahoma"/>
                <a:cs typeface="Tahoma"/>
              </a:rPr>
              <a:t>CSS,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Images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тд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помощью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HTML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тегов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170"/>
              </a:spcBef>
              <a:buChar char="●"/>
              <a:tabLst>
                <a:tab pos="353695" algn="l"/>
              </a:tabLst>
            </a:pPr>
            <a:r>
              <a:rPr sz="1800" dirty="0">
                <a:latin typeface="Tahoma"/>
                <a:cs typeface="Tahoma"/>
              </a:rPr>
              <a:t>Чтение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из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других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ресурсов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чтение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ответов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запросы,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получение</a:t>
            </a:r>
            <a:endParaRPr sz="1800">
              <a:latin typeface="Tahoma"/>
              <a:cs typeface="Tahoma"/>
            </a:endParaRPr>
          </a:p>
          <a:p>
            <a:pPr marL="35433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Tahoma"/>
                <a:cs typeface="Tahoma"/>
              </a:rPr>
              <a:t>доступа </a:t>
            </a:r>
            <a:r>
              <a:rPr sz="1800" spc="-125" dirty="0">
                <a:latin typeface="Tahoma"/>
                <a:cs typeface="Tahoma"/>
              </a:rPr>
              <a:t>к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содержимому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встроенного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ресурса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Same</a:t>
            </a:r>
            <a:r>
              <a:rPr spc="-55" dirty="0"/>
              <a:t> </a:t>
            </a:r>
            <a:r>
              <a:rPr dirty="0"/>
              <a:t>Origin</a:t>
            </a:r>
            <a:r>
              <a:rPr spc="-50" dirty="0"/>
              <a:t> </a:t>
            </a:r>
            <a:r>
              <a:rPr spc="50" dirty="0"/>
              <a:t>Policy</a:t>
            </a:r>
            <a:r>
              <a:rPr spc="-55" dirty="0"/>
              <a:t> </a:t>
            </a:r>
            <a:r>
              <a:rPr spc="-20" dirty="0"/>
              <a:t>(типы </a:t>
            </a:r>
            <a:r>
              <a:rPr dirty="0"/>
              <a:t>взаимодействия</a:t>
            </a:r>
            <a:r>
              <a:rPr spc="-35" dirty="0"/>
              <a:t> </a:t>
            </a:r>
            <a:r>
              <a:rPr spc="90" dirty="0"/>
              <a:t>с</a:t>
            </a:r>
            <a:r>
              <a:rPr spc="-50" dirty="0"/>
              <a:t> </a:t>
            </a:r>
            <a:r>
              <a:rPr spc="-10" dirty="0"/>
              <a:t>ресурсами)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5595620" cy="9702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Font typeface="Times New Roman"/>
              <a:buChar char="●"/>
              <a:tabLst>
                <a:tab pos="353695" algn="l"/>
              </a:tabLst>
            </a:pPr>
            <a:r>
              <a:rPr sz="1800" spc="75" dirty="0">
                <a:latin typeface="Tahoma"/>
                <a:cs typeface="Tahoma"/>
              </a:rPr>
              <a:t>Cross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Origin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“Запись”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обычно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разрешена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sz="1800" spc="75" dirty="0">
                <a:latin typeface="Tahoma"/>
                <a:cs typeface="Tahoma"/>
              </a:rPr>
              <a:t>Cross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Origin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“Встраивание”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обычно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разрешено</a:t>
            </a:r>
            <a:endParaRPr sz="1800">
              <a:latin typeface="Tahoma"/>
              <a:cs typeface="Tahoma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sz="1800" spc="75" dirty="0">
                <a:latin typeface="Tahoma"/>
                <a:cs typeface="Tahoma"/>
              </a:rPr>
              <a:t>Cross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Origin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“Чтение”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по-</a:t>
            </a:r>
            <a:r>
              <a:rPr sz="1800" dirty="0">
                <a:latin typeface="Tahoma"/>
                <a:cs typeface="Tahoma"/>
              </a:rPr>
              <a:t>умолчанию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запрещено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Cookie</a:t>
            </a:r>
            <a:r>
              <a:rPr spc="-75" dirty="0"/>
              <a:t> </a:t>
            </a:r>
            <a:r>
              <a:rPr spc="-10" dirty="0"/>
              <a:t>(samesite)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898765" cy="15132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Samesite</a:t>
            </a:r>
            <a:r>
              <a:rPr sz="1800" spc="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145" dirty="0">
                <a:solidFill>
                  <a:srgbClr val="202020"/>
                </a:solidFill>
                <a:latin typeface="Tahoma"/>
                <a:cs typeface="Tahoma"/>
              </a:rPr>
              <a:t>—</a:t>
            </a:r>
            <a:r>
              <a:rPr sz="1800" spc="7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сравнительно</a:t>
            </a:r>
            <a:r>
              <a:rPr sz="1800" spc="4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новый</a:t>
            </a:r>
            <a:r>
              <a:rPr sz="1800" spc="1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параметр</a:t>
            </a:r>
            <a:r>
              <a:rPr sz="1800" spc="-1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202020"/>
                </a:solidFill>
                <a:latin typeface="Tahoma"/>
                <a:cs typeface="Tahoma"/>
              </a:rPr>
              <a:t>кук,</a:t>
            </a:r>
            <a:r>
              <a:rPr sz="1800" spc="6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предоставляющий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дополнительный</a:t>
            </a:r>
            <a:r>
              <a:rPr sz="1800" spc="-2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контроль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над</a:t>
            </a:r>
            <a:r>
              <a:rPr sz="1800" spc="1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их</a:t>
            </a:r>
            <a:r>
              <a:rPr sz="1800" spc="-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передачей</a:t>
            </a:r>
            <a:r>
              <a:rPr sz="1800" spc="-3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согласно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Origin</a:t>
            </a:r>
            <a:r>
              <a:rPr sz="1800" spc="-4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policy.</a:t>
            </a:r>
            <a:r>
              <a:rPr sz="1800" spc="5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Важно</a:t>
            </a:r>
            <a:r>
              <a:rPr sz="1800" spc="-2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заметить,</a:t>
            </a:r>
            <a:r>
              <a:rPr sz="1800" spc="-5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что</a:t>
            </a:r>
            <a:r>
              <a:rPr sz="1800" spc="-2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данная</a:t>
            </a:r>
            <a:r>
              <a:rPr sz="1800" spc="-2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настройка</a:t>
            </a:r>
            <a:r>
              <a:rPr sz="1800" spc="-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работает</a:t>
            </a:r>
            <a:r>
              <a:rPr sz="1800" spc="-8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только</a:t>
            </a:r>
            <a:r>
              <a:rPr sz="1800" spc="-4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202020"/>
                </a:solidFill>
                <a:latin typeface="Tahoma"/>
                <a:cs typeface="Tahoma"/>
              </a:rPr>
              <a:t>с</a:t>
            </a:r>
            <a:r>
              <a:rPr sz="1800" spc="5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202020"/>
                </a:solidFill>
                <a:latin typeface="Arial"/>
                <a:cs typeface="Arial"/>
              </a:rPr>
              <a:t>secure</a:t>
            </a:r>
            <a:r>
              <a:rPr sz="1800" b="1" spc="-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cookies.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Возможные </a:t>
            </a:r>
            <a:r>
              <a:rPr sz="1800" spc="-20" dirty="0">
                <a:solidFill>
                  <a:srgbClr val="202020"/>
                </a:solidFill>
                <a:latin typeface="Tahoma"/>
                <a:cs typeface="Tahoma"/>
              </a:rPr>
              <a:t>значения: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Strict,</a:t>
            </a:r>
            <a:r>
              <a:rPr sz="1800" spc="-45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202020"/>
                </a:solidFill>
                <a:latin typeface="Tahoma"/>
                <a:cs typeface="Tahoma"/>
              </a:rPr>
              <a:t>Lax,</a:t>
            </a:r>
            <a:r>
              <a:rPr sz="1800" spc="30" dirty="0">
                <a:solidFill>
                  <a:srgbClr val="202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Tahoma"/>
                <a:cs typeface="Tahoma"/>
              </a:rPr>
              <a:t>None.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Cookie</a:t>
            </a:r>
            <a:r>
              <a:rPr spc="-75" dirty="0"/>
              <a:t> </a:t>
            </a:r>
            <a:r>
              <a:rPr spc="-45" dirty="0"/>
              <a:t>(strict)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55" dirty="0">
                <a:solidFill>
                  <a:srgbClr val="202020"/>
                </a:solidFill>
              </a:rPr>
              <a:t>Cookies</a:t>
            </a:r>
            <a:r>
              <a:rPr spc="-55" dirty="0">
                <a:solidFill>
                  <a:srgbClr val="202020"/>
                </a:solidFill>
              </a:rPr>
              <a:t> </a:t>
            </a:r>
            <a:r>
              <a:rPr spc="70" dirty="0">
                <a:solidFill>
                  <a:srgbClr val="202020"/>
                </a:solidFill>
              </a:rPr>
              <a:t>с</a:t>
            </a:r>
            <a:r>
              <a:rPr spc="-25" dirty="0">
                <a:solidFill>
                  <a:srgbClr val="202020"/>
                </a:solidFill>
              </a:rPr>
              <a:t> </a:t>
            </a:r>
            <a:r>
              <a:rPr spc="-60" dirty="0">
                <a:solidFill>
                  <a:srgbClr val="202020"/>
                </a:solidFill>
              </a:rPr>
              <a:t>`samesite=strict`</a:t>
            </a:r>
            <a:r>
              <a:rPr spc="-50" dirty="0">
                <a:solidFill>
                  <a:srgbClr val="202020"/>
                </a:solidFill>
              </a:rPr>
              <a:t> </a:t>
            </a:r>
            <a:r>
              <a:rPr b="1" dirty="0">
                <a:solidFill>
                  <a:srgbClr val="202020"/>
                </a:solidFill>
                <a:latin typeface="Arial"/>
                <a:cs typeface="Arial"/>
              </a:rPr>
              <a:t>никогда</a:t>
            </a:r>
            <a:r>
              <a:rPr b="1" spc="4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02020"/>
                </a:solidFill>
              </a:rPr>
              <a:t>не</a:t>
            </a:r>
            <a:r>
              <a:rPr spc="-10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отправятся,</a:t>
            </a:r>
            <a:r>
              <a:rPr spc="-5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если</a:t>
            </a:r>
            <a:r>
              <a:rPr spc="-30" dirty="0">
                <a:solidFill>
                  <a:srgbClr val="202020"/>
                </a:solidFill>
              </a:rPr>
              <a:t> </a:t>
            </a:r>
            <a:r>
              <a:rPr spc="-10" dirty="0">
                <a:solidFill>
                  <a:srgbClr val="202020"/>
                </a:solidFill>
              </a:rPr>
              <a:t>пользователь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>
                <a:solidFill>
                  <a:srgbClr val="202020"/>
                </a:solidFill>
              </a:rPr>
              <a:t>пришел</a:t>
            </a:r>
            <a:r>
              <a:rPr spc="-90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не</a:t>
            </a:r>
            <a:r>
              <a:rPr spc="-65" dirty="0">
                <a:solidFill>
                  <a:srgbClr val="202020"/>
                </a:solidFill>
              </a:rPr>
              <a:t> </a:t>
            </a:r>
            <a:r>
              <a:rPr spc="70" dirty="0">
                <a:solidFill>
                  <a:srgbClr val="202020"/>
                </a:solidFill>
              </a:rPr>
              <a:t>с</a:t>
            </a:r>
            <a:r>
              <a:rPr spc="-7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этого</a:t>
            </a:r>
            <a:r>
              <a:rPr spc="-6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же</a:t>
            </a:r>
            <a:r>
              <a:rPr spc="-60" dirty="0">
                <a:solidFill>
                  <a:srgbClr val="202020"/>
                </a:solidFill>
              </a:rPr>
              <a:t> </a:t>
            </a:r>
            <a:r>
              <a:rPr spc="-10" dirty="0">
                <a:solidFill>
                  <a:srgbClr val="202020"/>
                </a:solidFill>
              </a:rPr>
              <a:t>сайта.</a:t>
            </a:r>
          </a:p>
          <a:p>
            <a:pPr marL="12700">
              <a:lnSpc>
                <a:spcPct val="100000"/>
              </a:lnSpc>
              <a:spcBef>
                <a:spcPts val="2140"/>
              </a:spcBef>
            </a:pPr>
            <a:r>
              <a:rPr dirty="0">
                <a:solidFill>
                  <a:srgbClr val="202020"/>
                </a:solidFill>
              </a:rPr>
              <a:t>Важно</a:t>
            </a:r>
            <a:r>
              <a:rPr spc="1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помнить,</a:t>
            </a:r>
            <a:r>
              <a:rPr spc="-10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что</a:t>
            </a:r>
            <a:r>
              <a:rPr spc="20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cookies</a:t>
            </a:r>
            <a:r>
              <a:rPr spc="-5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не</a:t>
            </a:r>
            <a:r>
              <a:rPr spc="1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будут</a:t>
            </a:r>
            <a:r>
              <a:rPr spc="30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пересылаться</a:t>
            </a:r>
            <a:r>
              <a:rPr spc="-60" dirty="0">
                <a:solidFill>
                  <a:srgbClr val="202020"/>
                </a:solidFill>
              </a:rPr>
              <a:t> </a:t>
            </a:r>
            <a:r>
              <a:rPr spc="-30" dirty="0">
                <a:solidFill>
                  <a:srgbClr val="202020"/>
                </a:solidFill>
              </a:rPr>
              <a:t>также</a:t>
            </a:r>
            <a:r>
              <a:rPr spc="-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при</a:t>
            </a:r>
            <a:r>
              <a:rPr spc="-10" dirty="0">
                <a:solidFill>
                  <a:srgbClr val="202020"/>
                </a:solidFill>
              </a:rPr>
              <a:t> навигации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>
                <a:solidFill>
                  <a:srgbClr val="202020"/>
                </a:solidFill>
              </a:rPr>
              <a:t>высокого</a:t>
            </a:r>
            <a:r>
              <a:rPr spc="-7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уровня</a:t>
            </a:r>
            <a:r>
              <a:rPr spc="-55" dirty="0">
                <a:solidFill>
                  <a:srgbClr val="202020"/>
                </a:solidFill>
              </a:rPr>
              <a:t> </a:t>
            </a:r>
            <a:r>
              <a:rPr spc="-25" dirty="0">
                <a:solidFill>
                  <a:srgbClr val="202020"/>
                </a:solidFill>
              </a:rPr>
              <a:t>(т.е.</a:t>
            </a:r>
            <a:r>
              <a:rPr spc="-5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даже</a:t>
            </a:r>
            <a:r>
              <a:rPr spc="-75" dirty="0">
                <a:solidFill>
                  <a:srgbClr val="202020"/>
                </a:solidFill>
              </a:rPr>
              <a:t> </a:t>
            </a:r>
            <a:r>
              <a:rPr spc="-10" dirty="0">
                <a:solidFill>
                  <a:srgbClr val="202020"/>
                </a:solidFill>
              </a:rPr>
              <a:t>при</a:t>
            </a:r>
            <a:r>
              <a:rPr spc="-10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переходе</a:t>
            </a:r>
            <a:r>
              <a:rPr spc="-6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по</a:t>
            </a:r>
            <a:r>
              <a:rPr spc="-55" dirty="0">
                <a:solidFill>
                  <a:srgbClr val="202020"/>
                </a:solidFill>
              </a:rPr>
              <a:t> </a:t>
            </a:r>
            <a:r>
              <a:rPr spc="-10" dirty="0">
                <a:solidFill>
                  <a:srgbClr val="202020"/>
                </a:solidFill>
              </a:rPr>
              <a:t>ссылке)</a:t>
            </a:r>
          </a:p>
          <a:p>
            <a:pPr marL="12700">
              <a:lnSpc>
                <a:spcPct val="100000"/>
              </a:lnSpc>
              <a:spcBef>
                <a:spcPts val="2140"/>
              </a:spcBef>
            </a:pPr>
            <a:r>
              <a:rPr dirty="0">
                <a:solidFill>
                  <a:srgbClr val="202020"/>
                </a:solidFill>
              </a:rPr>
              <a:t>Пример:</a:t>
            </a:r>
            <a:r>
              <a:rPr spc="-4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vk.com</a:t>
            </a:r>
            <a:r>
              <a:rPr spc="-20" dirty="0">
                <a:solidFill>
                  <a:srgbClr val="202020"/>
                </a:solidFill>
              </a:rPr>
              <a:t> </a:t>
            </a:r>
            <a:r>
              <a:rPr spc="-65" dirty="0">
                <a:solidFill>
                  <a:srgbClr val="202020"/>
                </a:solidFill>
              </a:rPr>
              <a:t>-</a:t>
            </a:r>
            <a:r>
              <a:rPr spc="-265" dirty="0">
                <a:solidFill>
                  <a:srgbClr val="202020"/>
                </a:solidFill>
              </a:rPr>
              <a:t>&gt;</a:t>
            </a:r>
            <a:r>
              <a:rPr spc="10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site.com</a:t>
            </a:r>
            <a:r>
              <a:rPr spc="-50" dirty="0">
                <a:solidFill>
                  <a:srgbClr val="202020"/>
                </a:solidFill>
              </a:rPr>
              <a:t> </a:t>
            </a:r>
            <a:r>
              <a:rPr spc="-65" dirty="0">
                <a:solidFill>
                  <a:srgbClr val="202020"/>
                </a:solidFill>
              </a:rPr>
              <a:t>-</a:t>
            </a:r>
            <a:r>
              <a:rPr spc="-265" dirty="0">
                <a:solidFill>
                  <a:srgbClr val="202020"/>
                </a:solidFill>
              </a:rPr>
              <a:t>&gt;</a:t>
            </a:r>
            <a:r>
              <a:rPr spc="5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cookies</a:t>
            </a:r>
            <a:r>
              <a:rPr spc="-60" dirty="0">
                <a:solidFill>
                  <a:srgbClr val="202020"/>
                </a:solidFill>
              </a:rPr>
              <a:t> </a:t>
            </a:r>
            <a:r>
              <a:rPr dirty="0">
                <a:solidFill>
                  <a:srgbClr val="202020"/>
                </a:solidFill>
              </a:rPr>
              <a:t>не</a:t>
            </a:r>
            <a:r>
              <a:rPr spc="10" dirty="0">
                <a:solidFill>
                  <a:srgbClr val="202020"/>
                </a:solidFill>
              </a:rPr>
              <a:t> </a:t>
            </a:r>
            <a:r>
              <a:rPr spc="-10" dirty="0">
                <a:solidFill>
                  <a:srgbClr val="202020"/>
                </a:solidFill>
              </a:rPr>
              <a:t>передаются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92023"/>
            <a:ext cx="5029200" cy="4760976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515238"/>
            <a:ext cx="9417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225" dirty="0">
                <a:latin typeface="Tahoma"/>
                <a:cs typeface="Tahoma"/>
              </a:rPr>
              <a:t>CORS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002780" cy="9702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spc="55" dirty="0">
                <a:latin typeface="Tahoma"/>
                <a:cs typeface="Tahoma"/>
              </a:rPr>
              <a:t>Cross-</a:t>
            </a:r>
            <a:r>
              <a:rPr sz="1800" dirty="0">
                <a:latin typeface="Tahoma"/>
                <a:cs typeface="Tahoma"/>
              </a:rPr>
              <a:t>Origin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Resource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Sharing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(CORS)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standard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145" dirty="0">
                <a:latin typeface="Tahoma"/>
                <a:cs typeface="Tahoma"/>
              </a:rPr>
              <a:t>—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спецификация, </a:t>
            </a:r>
            <a:r>
              <a:rPr sz="1800" dirty="0">
                <a:latin typeface="Tahoma"/>
                <a:cs typeface="Tahoma"/>
              </a:rPr>
              <a:t>позволяющая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обойти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ограничения,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которые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75" dirty="0">
                <a:latin typeface="Tahoma"/>
                <a:cs typeface="Tahoma"/>
              </a:rPr>
              <a:t>Same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Origin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Policy </a:t>
            </a:r>
            <a:r>
              <a:rPr sz="1800" dirty="0">
                <a:latin typeface="Tahoma"/>
                <a:cs typeface="Tahoma"/>
              </a:rPr>
              <a:t>накладывает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кросс-доменные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запросы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65" dirty="0"/>
              <a:t> </a:t>
            </a:r>
            <a:r>
              <a:rPr spc="-10" dirty="0"/>
              <a:t>(XHR)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426" y="1777908"/>
            <a:ext cx="8832173" cy="242223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65" dirty="0"/>
              <a:t> </a:t>
            </a:r>
            <a:r>
              <a:rPr spc="-10" dirty="0"/>
              <a:t>(браузер)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085595"/>
            <a:ext cx="7753984" cy="246253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играет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роль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доверенного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посредника: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122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Он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гарантирует,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что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25" dirty="0">
                <a:latin typeface="Tahoma"/>
                <a:cs typeface="Tahoma"/>
              </a:rPr>
              <a:t>к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запросу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другой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источник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добавляется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Tahoma"/>
                <a:cs typeface="Tahoma"/>
              </a:rPr>
              <a:t>правильный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заголовок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Origin.</a:t>
            </a:r>
            <a:endParaRPr sz="1800">
              <a:latin typeface="Tahoma"/>
              <a:cs typeface="Tahoma"/>
            </a:endParaRPr>
          </a:p>
          <a:p>
            <a:pPr marL="469900" marR="5080" indent="-342265">
              <a:lnSpc>
                <a:spcPct val="114900"/>
              </a:lnSpc>
              <a:spcBef>
                <a:spcPts val="1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Он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проверяет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наличие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разрешающего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заголовка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Arial"/>
                <a:cs typeface="Arial"/>
              </a:rPr>
              <a:t>Access-Control- Allow-</a:t>
            </a:r>
            <a:r>
              <a:rPr sz="1800" b="1" dirty="0">
                <a:latin typeface="Arial"/>
                <a:cs typeface="Arial"/>
              </a:rPr>
              <a:t>Origin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ответе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и,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если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всё хорошо,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то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JavaScript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получает </a:t>
            </a:r>
            <a:r>
              <a:rPr sz="1800" dirty="0">
                <a:latin typeface="Tahoma"/>
                <a:cs typeface="Tahoma"/>
              </a:rPr>
              <a:t>доступ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25" dirty="0">
                <a:latin typeface="Tahoma"/>
                <a:cs typeface="Tahoma"/>
              </a:rPr>
              <a:t>к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ответу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сервера,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 противном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случае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доступ </a:t>
            </a:r>
            <a:r>
              <a:rPr sz="1800" spc="-10" dirty="0">
                <a:latin typeface="Tahoma"/>
                <a:cs typeface="Tahoma"/>
              </a:rPr>
              <a:t>запрещается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ошибкой.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85" dirty="0"/>
              <a:t> </a:t>
            </a:r>
            <a:r>
              <a:rPr dirty="0"/>
              <a:t>(простые</a:t>
            </a:r>
            <a:r>
              <a:rPr spc="-105" dirty="0"/>
              <a:t> </a:t>
            </a:r>
            <a:r>
              <a:rPr spc="-10" dirty="0"/>
              <a:t>запросы)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41297"/>
            <a:ext cx="7738745" cy="288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Запросы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считаются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простыми,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если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они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удовлетворяют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двум</a:t>
            </a:r>
            <a:r>
              <a:rPr sz="1800" spc="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условиям: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211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Простой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метод: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GET,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135" dirty="0">
                <a:latin typeface="Tahoma"/>
                <a:cs typeface="Tahoma"/>
              </a:rPr>
              <a:t>POST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или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85" dirty="0">
                <a:latin typeface="Tahoma"/>
                <a:cs typeface="Tahoma"/>
              </a:rPr>
              <a:t>HEAD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Простые</a:t>
            </a:r>
            <a:r>
              <a:rPr sz="1800" spc="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заголовки</a:t>
            </a:r>
            <a:endParaRPr sz="1800">
              <a:latin typeface="Tahoma"/>
              <a:cs typeface="Tahoma"/>
            </a:endParaRPr>
          </a:p>
          <a:p>
            <a:pPr marL="927100" lvl="1" indent="-316865">
              <a:lnSpc>
                <a:spcPct val="100000"/>
              </a:lnSpc>
              <a:spcBef>
                <a:spcPts val="305"/>
              </a:spcBef>
              <a:buChar char="○"/>
              <a:tabLst>
                <a:tab pos="927100" algn="l"/>
              </a:tabLst>
            </a:pPr>
            <a:r>
              <a:rPr sz="1400" spc="-10" dirty="0">
                <a:latin typeface="Tahoma"/>
                <a:cs typeface="Tahoma"/>
              </a:rPr>
              <a:t>Acceps</a:t>
            </a:r>
            <a:endParaRPr sz="1400">
              <a:latin typeface="Tahoma"/>
              <a:cs typeface="Tahoma"/>
            </a:endParaRPr>
          </a:p>
          <a:p>
            <a:pPr marL="927100" lvl="1" indent="-316865">
              <a:lnSpc>
                <a:spcPct val="100000"/>
              </a:lnSpc>
              <a:spcBef>
                <a:spcPts val="240"/>
              </a:spcBef>
              <a:buChar char="○"/>
              <a:tabLst>
                <a:tab pos="927100" algn="l"/>
              </a:tabLst>
            </a:pPr>
            <a:r>
              <a:rPr sz="1400" dirty="0">
                <a:latin typeface="Tahoma"/>
                <a:cs typeface="Tahoma"/>
              </a:rPr>
              <a:t>Accept-</a:t>
            </a:r>
            <a:r>
              <a:rPr sz="1400" spc="-10" dirty="0">
                <a:latin typeface="Tahoma"/>
                <a:cs typeface="Tahoma"/>
              </a:rPr>
              <a:t>Language</a:t>
            </a:r>
            <a:endParaRPr sz="1400">
              <a:latin typeface="Tahoma"/>
              <a:cs typeface="Tahoma"/>
            </a:endParaRPr>
          </a:p>
          <a:p>
            <a:pPr marL="927100" lvl="1" indent="-316865">
              <a:lnSpc>
                <a:spcPct val="100000"/>
              </a:lnSpc>
              <a:spcBef>
                <a:spcPts val="265"/>
              </a:spcBef>
              <a:buChar char="○"/>
              <a:tabLst>
                <a:tab pos="927100" algn="l"/>
              </a:tabLst>
            </a:pPr>
            <a:r>
              <a:rPr sz="1400" spc="-10" dirty="0">
                <a:latin typeface="Tahoma"/>
                <a:cs typeface="Tahoma"/>
              </a:rPr>
              <a:t>Content-Language</a:t>
            </a:r>
            <a:endParaRPr sz="1400">
              <a:latin typeface="Tahoma"/>
              <a:cs typeface="Tahoma"/>
            </a:endParaRPr>
          </a:p>
          <a:p>
            <a:pPr marL="927100" lvl="1" indent="-316865">
              <a:lnSpc>
                <a:spcPct val="100000"/>
              </a:lnSpc>
              <a:spcBef>
                <a:spcPts val="240"/>
              </a:spcBef>
              <a:buChar char="○"/>
              <a:tabLst>
                <a:tab pos="927100" algn="l"/>
              </a:tabLst>
            </a:pPr>
            <a:r>
              <a:rPr sz="1400" spc="-10" dirty="0">
                <a:latin typeface="Tahoma"/>
                <a:cs typeface="Tahoma"/>
              </a:rPr>
              <a:t>Content-</a:t>
            </a:r>
            <a:r>
              <a:rPr sz="1400" spc="-20" dirty="0">
                <a:latin typeface="Tahoma"/>
                <a:cs typeface="Tahoma"/>
              </a:rPr>
              <a:t>Type</a:t>
            </a:r>
            <a:endParaRPr sz="1400">
              <a:latin typeface="Tahoma"/>
              <a:cs typeface="Tahoma"/>
            </a:endParaRPr>
          </a:p>
          <a:p>
            <a:pPr marL="1384300" lvl="2" indent="-316865">
              <a:lnSpc>
                <a:spcPct val="100000"/>
              </a:lnSpc>
              <a:spcBef>
                <a:spcPts val="270"/>
              </a:spcBef>
              <a:buChar char="■"/>
              <a:tabLst>
                <a:tab pos="1384300" algn="l"/>
              </a:tabLst>
            </a:pPr>
            <a:r>
              <a:rPr sz="1400" spc="-35" dirty="0">
                <a:latin typeface="Tahoma"/>
                <a:cs typeface="Tahoma"/>
              </a:rPr>
              <a:t>application/x-</a:t>
            </a:r>
            <a:r>
              <a:rPr sz="1400" spc="-55" dirty="0">
                <a:latin typeface="Tahoma"/>
                <a:cs typeface="Tahoma"/>
              </a:rPr>
              <a:t>www-</a:t>
            </a:r>
            <a:r>
              <a:rPr sz="1400" spc="-45" dirty="0">
                <a:latin typeface="Tahoma"/>
                <a:cs typeface="Tahoma"/>
              </a:rPr>
              <a:t>form-</a:t>
            </a:r>
            <a:r>
              <a:rPr sz="1400" spc="-10" dirty="0">
                <a:latin typeface="Tahoma"/>
                <a:cs typeface="Tahoma"/>
              </a:rPr>
              <a:t>urlencoded</a:t>
            </a:r>
            <a:endParaRPr sz="1400">
              <a:latin typeface="Tahoma"/>
              <a:cs typeface="Tahoma"/>
            </a:endParaRPr>
          </a:p>
          <a:p>
            <a:pPr marL="1384300" lvl="2" indent="-316865">
              <a:lnSpc>
                <a:spcPct val="100000"/>
              </a:lnSpc>
              <a:spcBef>
                <a:spcPts val="240"/>
              </a:spcBef>
              <a:buChar char="■"/>
              <a:tabLst>
                <a:tab pos="1384300" algn="l"/>
              </a:tabLst>
            </a:pPr>
            <a:r>
              <a:rPr sz="1400" spc="-50" dirty="0">
                <a:latin typeface="Tahoma"/>
                <a:cs typeface="Tahoma"/>
              </a:rPr>
              <a:t>multipart/form-</a:t>
            </a:r>
            <a:r>
              <a:rPr sz="1400" spc="-20" dirty="0">
                <a:latin typeface="Tahoma"/>
                <a:cs typeface="Tahoma"/>
              </a:rPr>
              <a:t>data</a:t>
            </a:r>
            <a:endParaRPr sz="1400">
              <a:latin typeface="Tahoma"/>
              <a:cs typeface="Tahoma"/>
            </a:endParaRPr>
          </a:p>
          <a:p>
            <a:pPr marL="1384300" lvl="2" indent="-316865">
              <a:lnSpc>
                <a:spcPct val="100000"/>
              </a:lnSpc>
              <a:spcBef>
                <a:spcPts val="265"/>
              </a:spcBef>
              <a:buChar char="■"/>
              <a:tabLst>
                <a:tab pos="1384300" algn="l"/>
              </a:tabLst>
            </a:pPr>
            <a:r>
              <a:rPr sz="1400" spc="-10" dirty="0">
                <a:latin typeface="Tahoma"/>
                <a:cs typeface="Tahoma"/>
              </a:rPr>
              <a:t>text/plain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85" dirty="0"/>
              <a:t> </a:t>
            </a:r>
            <a:r>
              <a:rPr dirty="0"/>
              <a:t>(простые</a:t>
            </a:r>
            <a:r>
              <a:rPr spc="-105" dirty="0"/>
              <a:t> </a:t>
            </a:r>
            <a:r>
              <a:rPr spc="-10" dirty="0"/>
              <a:t>запросы)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018031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105" dirty="0"/>
              <a:t> </a:t>
            </a:r>
            <a:r>
              <a:rPr spc="245" dirty="0"/>
              <a:t>CORS</a:t>
            </a:r>
            <a:r>
              <a:rPr spc="-95" dirty="0"/>
              <a:t> </a:t>
            </a:r>
            <a:r>
              <a:rPr dirty="0"/>
              <a:t>(запрос</a:t>
            </a:r>
            <a:r>
              <a:rPr spc="-105" dirty="0"/>
              <a:t> </a:t>
            </a:r>
            <a:r>
              <a:rPr spc="-10" dirty="0"/>
              <a:t>сервиса)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527290" cy="6534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Например,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мы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запрашиваем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u="sng" spc="-35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https://anywhere.com/request</a:t>
            </a:r>
            <a:r>
              <a:rPr sz="1800" spc="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со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страницы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https://javascript.info/page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944" y="2200655"/>
            <a:ext cx="6992111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130" dirty="0"/>
              <a:t> </a:t>
            </a:r>
            <a:r>
              <a:rPr spc="245" dirty="0"/>
              <a:t>CORS</a:t>
            </a:r>
            <a:r>
              <a:rPr spc="-120" dirty="0"/>
              <a:t> </a:t>
            </a:r>
            <a:r>
              <a:rPr dirty="0"/>
              <a:t>(ответ</a:t>
            </a:r>
            <a:r>
              <a:rPr spc="-130" dirty="0"/>
              <a:t> </a:t>
            </a:r>
            <a:r>
              <a:rPr spc="-10" dirty="0"/>
              <a:t>сервиса)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180" y="1837944"/>
            <a:ext cx="7564435" cy="146913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515238"/>
            <a:ext cx="41503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245" dirty="0">
                <a:latin typeface="Tahoma"/>
                <a:cs typeface="Tahoma"/>
              </a:rPr>
              <a:t>CORS</a:t>
            </a:r>
            <a:r>
              <a:rPr sz="2500" spc="-6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(непростые</a:t>
            </a:r>
            <a:r>
              <a:rPr sz="2500" spc="-70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запросы)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515859" cy="9702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dirty="0">
                <a:latin typeface="Tahoma"/>
                <a:cs typeface="Tahoma"/>
              </a:rPr>
              <a:t>Остальные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запросы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считаются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непростыми.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При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их</a:t>
            </a:r>
            <a:r>
              <a:rPr sz="1800" spc="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отправке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нужно </a:t>
            </a:r>
            <a:r>
              <a:rPr sz="1800" dirty="0">
                <a:latin typeface="Tahoma"/>
                <a:cs typeface="Tahoma"/>
              </a:rPr>
              <a:t>понять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согласен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ли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обработку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таких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запросов.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Эти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запросы </a:t>
            </a:r>
            <a:r>
              <a:rPr sz="1800" dirty="0">
                <a:latin typeface="Tahoma"/>
                <a:cs typeface="Tahoma"/>
              </a:rPr>
              <a:t>всегда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отсылаются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</a:t>
            </a:r>
            <a:r>
              <a:rPr sz="1800" spc="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специальным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заголовком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Origin.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60" dirty="0"/>
              <a:t> </a:t>
            </a:r>
            <a:r>
              <a:rPr dirty="0"/>
              <a:t>(непростые</a:t>
            </a:r>
            <a:r>
              <a:rPr spc="-70" dirty="0"/>
              <a:t> </a:t>
            </a:r>
            <a:r>
              <a:rPr spc="-10" dirty="0"/>
              <a:t>запросы)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667625" cy="246189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Tahoma"/>
                <a:cs typeface="Tahoma"/>
              </a:rPr>
              <a:t>При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отправке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непростого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запроса,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браузер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45" dirty="0">
                <a:latin typeface="Tahoma"/>
                <a:cs typeface="Tahoma"/>
              </a:rPr>
              <a:t>сделает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65" dirty="0">
                <a:latin typeface="Tahoma"/>
                <a:cs typeface="Tahoma"/>
              </a:rPr>
              <a:t>самом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деле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два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spc="50" dirty="0">
                <a:latin typeface="Tahoma"/>
                <a:cs typeface="Tahoma"/>
              </a:rPr>
              <a:t>HTTP-</a:t>
            </a:r>
            <a:r>
              <a:rPr sz="1800" spc="-10" dirty="0">
                <a:latin typeface="Tahoma"/>
                <a:cs typeface="Tahoma"/>
              </a:rPr>
              <a:t>запроса.</a:t>
            </a:r>
            <a:endParaRPr sz="1800">
              <a:latin typeface="Tahoma"/>
              <a:cs typeface="Tahoma"/>
            </a:endParaRPr>
          </a:p>
          <a:p>
            <a:pPr marL="469900" marR="5080" indent="-342265">
              <a:lnSpc>
                <a:spcPct val="114900"/>
              </a:lnSpc>
              <a:spcBef>
                <a:spcPts val="182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«Предзапрос»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(английский </a:t>
            </a:r>
            <a:r>
              <a:rPr sz="1800" dirty="0">
                <a:latin typeface="Tahoma"/>
                <a:cs typeface="Tahoma"/>
              </a:rPr>
              <a:t>термин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«preflight»)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OPTIONS. </a:t>
            </a:r>
            <a:r>
              <a:rPr sz="1800" spc="-10" dirty="0">
                <a:latin typeface="Tahoma"/>
                <a:cs typeface="Tahoma"/>
              </a:rPr>
              <a:t>Содержит </a:t>
            </a:r>
            <a:r>
              <a:rPr sz="1800" dirty="0">
                <a:latin typeface="Tahoma"/>
                <a:cs typeface="Tahoma"/>
              </a:rPr>
              <a:t>название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желаемого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метода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заголовке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Arial"/>
                <a:cs typeface="Arial"/>
              </a:rPr>
              <a:t>Access-Control-Request- Method</a:t>
            </a:r>
            <a:r>
              <a:rPr sz="1800" spc="-10" dirty="0">
                <a:latin typeface="Tahoma"/>
                <a:cs typeface="Tahoma"/>
              </a:rPr>
              <a:t>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а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если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добавлены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особые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заголовки,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то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их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тоже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145" dirty="0">
                <a:latin typeface="Tahoma"/>
                <a:cs typeface="Tahoma"/>
              </a:rPr>
              <a:t>—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в </a:t>
            </a:r>
            <a:r>
              <a:rPr sz="1800" b="1" spc="-10" dirty="0">
                <a:latin typeface="Arial"/>
                <a:cs typeface="Arial"/>
              </a:rPr>
              <a:t>Access-Control-</a:t>
            </a:r>
            <a:r>
              <a:rPr sz="1800" b="1" dirty="0">
                <a:latin typeface="Arial"/>
                <a:cs typeface="Arial"/>
              </a:rPr>
              <a:t>Request-</a:t>
            </a:r>
            <a:r>
              <a:rPr sz="1800" b="1" spc="-10" dirty="0">
                <a:latin typeface="Arial"/>
                <a:cs typeface="Arial"/>
              </a:rPr>
              <a:t>Headers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35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Tahoma"/>
                <a:cs typeface="Tahoma"/>
              </a:rPr>
              <a:t>Основной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HTTP-</a:t>
            </a:r>
            <a:r>
              <a:rPr sz="1800" dirty="0">
                <a:latin typeface="Tahoma"/>
                <a:cs typeface="Tahoma"/>
              </a:rPr>
              <a:t>запрос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с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заголовком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Origin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55" dirty="0"/>
              <a:t> </a:t>
            </a:r>
            <a:r>
              <a:rPr spc="85" dirty="0"/>
              <a:t>(OPTIONS</a:t>
            </a:r>
            <a:r>
              <a:rPr spc="-50" dirty="0"/>
              <a:t> </a:t>
            </a:r>
            <a:r>
              <a:rPr spc="-10" dirty="0"/>
              <a:t>запрос)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/>
              <a:t>Предварительный</a:t>
            </a:r>
            <a:r>
              <a:rPr spc="65" dirty="0"/>
              <a:t> </a:t>
            </a:r>
            <a:r>
              <a:rPr dirty="0"/>
              <a:t>запрос</a:t>
            </a:r>
            <a:r>
              <a:rPr spc="45" dirty="0"/>
              <a:t> </a:t>
            </a:r>
            <a:r>
              <a:rPr dirty="0"/>
              <a:t>использует</a:t>
            </a:r>
            <a:r>
              <a:rPr spc="45" dirty="0"/>
              <a:t> </a:t>
            </a:r>
            <a:r>
              <a:rPr dirty="0"/>
              <a:t>метод</a:t>
            </a:r>
            <a:r>
              <a:rPr spc="70" dirty="0"/>
              <a:t> </a:t>
            </a:r>
            <a:r>
              <a:rPr spc="60" dirty="0"/>
              <a:t>OPTIONS,</a:t>
            </a:r>
            <a:r>
              <a:rPr spc="125" dirty="0"/>
              <a:t> </a:t>
            </a:r>
            <a:r>
              <a:rPr spc="-10" dirty="0"/>
              <a:t>который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/>
              <a:t>содержит</a:t>
            </a:r>
            <a:r>
              <a:rPr spc="-95" dirty="0"/>
              <a:t> </a:t>
            </a:r>
            <a:r>
              <a:rPr dirty="0"/>
              <a:t>3</a:t>
            </a:r>
            <a:r>
              <a:rPr spc="-30" dirty="0"/>
              <a:t> </a:t>
            </a:r>
            <a:r>
              <a:rPr spc="-10" dirty="0"/>
              <a:t>заголовка</a:t>
            </a:r>
          </a:p>
          <a:p>
            <a:pPr marL="469900" indent="-341630">
              <a:lnSpc>
                <a:spcPct val="100000"/>
              </a:lnSpc>
              <a:spcBef>
                <a:spcPts val="2140"/>
              </a:spcBef>
              <a:buChar char="●"/>
              <a:tabLst>
                <a:tab pos="469900" algn="l"/>
              </a:tabLst>
            </a:pPr>
            <a:r>
              <a:rPr dirty="0"/>
              <a:t>Origin</a:t>
            </a:r>
            <a:r>
              <a:rPr spc="-10" dirty="0"/>
              <a:t> </a:t>
            </a:r>
            <a:r>
              <a:rPr dirty="0"/>
              <a:t>- содержит</a:t>
            </a:r>
            <a:r>
              <a:rPr spc="-65" dirty="0"/>
              <a:t> </a:t>
            </a:r>
            <a:r>
              <a:rPr dirty="0"/>
              <a:t>домен</a:t>
            </a:r>
            <a:r>
              <a:rPr spc="-40" dirty="0"/>
              <a:t> </a:t>
            </a:r>
            <a:r>
              <a:rPr spc="-10" dirty="0"/>
              <a:t>источника</a:t>
            </a: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Char char="●"/>
              <a:tabLst>
                <a:tab pos="469900" algn="l"/>
              </a:tabLst>
            </a:pPr>
            <a:r>
              <a:rPr spc="65" dirty="0"/>
              <a:t>Access-</a:t>
            </a:r>
            <a:r>
              <a:rPr dirty="0"/>
              <a:t>Control-Request-Method</a:t>
            </a:r>
            <a:r>
              <a:rPr spc="-80" dirty="0"/>
              <a:t> </a:t>
            </a:r>
            <a:r>
              <a:rPr dirty="0"/>
              <a:t>-</a:t>
            </a:r>
            <a:r>
              <a:rPr spc="40" dirty="0"/>
              <a:t> </a:t>
            </a:r>
            <a:r>
              <a:rPr dirty="0"/>
              <a:t>содержит</a:t>
            </a:r>
            <a:r>
              <a:rPr spc="-35" dirty="0"/>
              <a:t> </a:t>
            </a:r>
            <a:r>
              <a:rPr spc="80" dirty="0"/>
              <a:t>HTTP</a:t>
            </a:r>
            <a:r>
              <a:rPr spc="90" dirty="0"/>
              <a:t> </a:t>
            </a:r>
            <a:r>
              <a:rPr dirty="0"/>
              <a:t>метод</a:t>
            </a:r>
            <a:r>
              <a:rPr spc="15" dirty="0"/>
              <a:t> </a:t>
            </a:r>
            <a:r>
              <a:rPr spc="-10" dirty="0"/>
              <a:t>запроса</a:t>
            </a:r>
          </a:p>
          <a:p>
            <a:pPr marL="469900" indent="-341630">
              <a:lnSpc>
                <a:spcPct val="100000"/>
              </a:lnSpc>
              <a:spcBef>
                <a:spcPts val="340"/>
              </a:spcBef>
              <a:buChar char="●"/>
              <a:tabLst>
                <a:tab pos="469900" algn="l"/>
              </a:tabLst>
            </a:pPr>
            <a:r>
              <a:rPr spc="70" dirty="0"/>
              <a:t>Access-</a:t>
            </a:r>
            <a:r>
              <a:rPr dirty="0"/>
              <a:t>Control-Request-Headers</a:t>
            </a:r>
            <a:r>
              <a:rPr spc="-30" dirty="0"/>
              <a:t> </a:t>
            </a:r>
            <a:r>
              <a:rPr dirty="0"/>
              <a:t>-</a:t>
            </a:r>
            <a:r>
              <a:rPr spc="50" dirty="0"/>
              <a:t> </a:t>
            </a:r>
            <a:r>
              <a:rPr dirty="0"/>
              <a:t>содержит</a:t>
            </a:r>
            <a:r>
              <a:rPr spc="-25" dirty="0"/>
              <a:t> </a:t>
            </a:r>
            <a:r>
              <a:rPr dirty="0"/>
              <a:t>список</a:t>
            </a:r>
            <a:r>
              <a:rPr spc="-40" dirty="0"/>
              <a:t> </a:t>
            </a:r>
            <a:r>
              <a:rPr spc="85" dirty="0"/>
              <a:t>HTTP</a:t>
            </a:r>
            <a:r>
              <a:rPr spc="105" dirty="0"/>
              <a:t> </a:t>
            </a:r>
            <a:r>
              <a:rPr spc="-10" dirty="0"/>
              <a:t>заголовков</a:t>
            </a: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pc="-10" dirty="0"/>
              <a:t>запроса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55" dirty="0"/>
              <a:t> </a:t>
            </a:r>
            <a:r>
              <a:rPr spc="85" dirty="0"/>
              <a:t>(OPTIONS</a:t>
            </a:r>
            <a:r>
              <a:rPr spc="-50" dirty="0"/>
              <a:t> </a:t>
            </a:r>
            <a:r>
              <a:rPr spc="-10" dirty="0"/>
              <a:t>запрос)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646670" cy="309308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spc="75" dirty="0">
                <a:latin typeface="Tahoma"/>
                <a:cs typeface="Tahoma"/>
              </a:rPr>
              <a:t>Если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сервер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согласен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принять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запрос,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то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он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должен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ответить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Tahoma"/>
                <a:cs typeface="Tahoma"/>
              </a:rPr>
              <a:t>заголовками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2140"/>
              </a:spcBef>
              <a:buChar char="●"/>
              <a:tabLst>
                <a:tab pos="469900" algn="l"/>
              </a:tabLst>
            </a:pPr>
            <a:r>
              <a:rPr sz="1800" spc="70" dirty="0">
                <a:latin typeface="Tahoma"/>
                <a:cs typeface="Tahoma"/>
              </a:rPr>
              <a:t>Access-</a:t>
            </a:r>
            <a:r>
              <a:rPr sz="1800" dirty="0">
                <a:latin typeface="Tahoma"/>
                <a:cs typeface="Tahoma"/>
              </a:rPr>
              <a:t>Control-</a:t>
            </a:r>
            <a:r>
              <a:rPr sz="1800" spc="-10" dirty="0">
                <a:latin typeface="Tahoma"/>
                <a:cs typeface="Tahoma"/>
              </a:rPr>
              <a:t>Allow-</a:t>
            </a:r>
            <a:r>
              <a:rPr sz="1800" dirty="0">
                <a:latin typeface="Tahoma"/>
                <a:cs typeface="Tahoma"/>
              </a:rPr>
              <a:t>Origin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 список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разрешенных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источников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0"/>
              </a:spcBef>
              <a:buChar char="●"/>
              <a:tabLst>
                <a:tab pos="469900" algn="l"/>
              </a:tabLst>
            </a:pPr>
            <a:r>
              <a:rPr sz="1800" spc="65" dirty="0">
                <a:latin typeface="Tahoma"/>
                <a:cs typeface="Tahoma"/>
              </a:rPr>
              <a:t>Access-</a:t>
            </a:r>
            <a:r>
              <a:rPr sz="1800" dirty="0">
                <a:latin typeface="Tahoma"/>
                <a:cs typeface="Tahoma"/>
              </a:rPr>
              <a:t>Control-</a:t>
            </a:r>
            <a:r>
              <a:rPr sz="1800" spc="-10" dirty="0">
                <a:latin typeface="Tahoma"/>
                <a:cs typeface="Tahoma"/>
              </a:rPr>
              <a:t>Allow-</a:t>
            </a:r>
            <a:r>
              <a:rPr sz="1800" dirty="0">
                <a:latin typeface="Tahoma"/>
                <a:cs typeface="Tahoma"/>
              </a:rPr>
              <a:t>Method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содержит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список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разрешенных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</a:pPr>
            <a:r>
              <a:rPr sz="1800" spc="-10" dirty="0">
                <a:latin typeface="Tahoma"/>
                <a:cs typeface="Tahoma"/>
              </a:rPr>
              <a:t>методов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Char char="●"/>
              <a:tabLst>
                <a:tab pos="469900" algn="l"/>
              </a:tabLst>
            </a:pPr>
            <a:r>
              <a:rPr sz="1800" spc="65" dirty="0">
                <a:latin typeface="Tahoma"/>
                <a:cs typeface="Tahoma"/>
              </a:rPr>
              <a:t>Access-</a:t>
            </a:r>
            <a:r>
              <a:rPr sz="1800" dirty="0">
                <a:latin typeface="Tahoma"/>
                <a:cs typeface="Tahoma"/>
              </a:rPr>
              <a:t>Control-</a:t>
            </a:r>
            <a:r>
              <a:rPr sz="1800" spc="-10" dirty="0">
                <a:latin typeface="Tahoma"/>
                <a:cs typeface="Tahoma"/>
              </a:rPr>
              <a:t>Allow-</a:t>
            </a:r>
            <a:r>
              <a:rPr sz="1800" dirty="0">
                <a:latin typeface="Tahoma"/>
                <a:cs typeface="Tahoma"/>
              </a:rPr>
              <a:t>Headers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содержит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список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разрешенных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1800" spc="-10" dirty="0">
                <a:latin typeface="Tahoma"/>
                <a:cs typeface="Tahoma"/>
              </a:rPr>
              <a:t>заголовков</a:t>
            </a:r>
            <a:endParaRPr sz="1800">
              <a:latin typeface="Tahoma"/>
              <a:cs typeface="Tahoma"/>
            </a:endParaRPr>
          </a:p>
          <a:p>
            <a:pPr marL="469900" indent="-341630">
              <a:lnSpc>
                <a:spcPct val="100000"/>
              </a:lnSpc>
              <a:spcBef>
                <a:spcPts val="315"/>
              </a:spcBef>
              <a:buChar char="●"/>
              <a:tabLst>
                <a:tab pos="469900" algn="l"/>
              </a:tabLst>
            </a:pPr>
            <a:r>
              <a:rPr sz="1800" spc="70" dirty="0">
                <a:latin typeface="Tahoma"/>
                <a:cs typeface="Tahoma"/>
              </a:rPr>
              <a:t>Access-</a:t>
            </a:r>
            <a:r>
              <a:rPr sz="1800" dirty="0">
                <a:latin typeface="Tahoma"/>
                <a:cs typeface="Tahoma"/>
              </a:rPr>
              <a:t>Control-Max-</a:t>
            </a:r>
            <a:r>
              <a:rPr sz="1800" spc="55" dirty="0">
                <a:latin typeface="Tahoma"/>
                <a:cs typeface="Tahoma"/>
              </a:rPr>
              <a:t>Age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указывает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количество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секунд,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на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которое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latin typeface="Tahoma"/>
                <a:cs typeface="Tahoma"/>
              </a:rPr>
              <a:t>можно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кешировать</a:t>
            </a:r>
            <a:r>
              <a:rPr sz="1800" spc="-9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решение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60" dirty="0"/>
              <a:t> </a:t>
            </a:r>
            <a:r>
              <a:rPr dirty="0"/>
              <a:t>(непростые</a:t>
            </a:r>
            <a:r>
              <a:rPr spc="-70" dirty="0"/>
              <a:t> </a:t>
            </a:r>
            <a:r>
              <a:rPr spc="-10" dirty="0"/>
              <a:t>запросы)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8127" y="1018031"/>
            <a:ext cx="3991698" cy="373206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515238"/>
            <a:ext cx="45885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Tahoma"/>
                <a:cs typeface="Tahoma"/>
              </a:rPr>
              <a:t>1.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500" spc="245" dirty="0">
                <a:latin typeface="Tahoma"/>
                <a:cs typeface="Tahoma"/>
              </a:rPr>
              <a:t>CORS</a:t>
            </a:r>
            <a:r>
              <a:rPr sz="2500" spc="-85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(предзапрос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сервиса)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550" y="1202030"/>
            <a:ext cx="7735570" cy="9702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85"/>
              </a:spcBef>
            </a:pPr>
            <a:r>
              <a:rPr sz="1800" dirty="0">
                <a:latin typeface="Tahoma"/>
                <a:cs typeface="Tahoma"/>
              </a:rPr>
              <a:t>Например,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60" dirty="0">
                <a:latin typeface="Tahoma"/>
                <a:cs typeface="Tahoma"/>
              </a:rPr>
              <a:t>мы</a:t>
            </a:r>
            <a:r>
              <a:rPr sz="1800" spc="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запрашиваем</a:t>
            </a:r>
            <a:r>
              <a:rPr sz="1800" spc="80" dirty="0">
                <a:latin typeface="Tahoma"/>
                <a:cs typeface="Tahoma"/>
              </a:rPr>
              <a:t> </a:t>
            </a:r>
            <a:r>
              <a:rPr sz="1800" u="sng" spc="-3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https://site.com/service.json</a:t>
            </a:r>
            <a:r>
              <a:rPr sz="1800" spc="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1800" spc="50" dirty="0">
                <a:latin typeface="Tahoma"/>
                <a:cs typeface="Tahoma"/>
              </a:rPr>
              <a:t>со</a:t>
            </a:r>
            <a:r>
              <a:rPr sz="1800" spc="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страницы </a:t>
            </a:r>
            <a:r>
              <a:rPr sz="1800" u="sng" spc="-4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https://javascript.info/page</a:t>
            </a:r>
            <a:r>
              <a:rPr sz="180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1800" spc="70" dirty="0">
                <a:latin typeface="Tahoma"/>
                <a:cs typeface="Tahoma"/>
              </a:rPr>
              <a:t>c</a:t>
            </a:r>
            <a:r>
              <a:rPr sz="1800" spc="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методом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125" dirty="0">
                <a:latin typeface="Tahoma"/>
                <a:cs typeface="Tahoma"/>
              </a:rPr>
              <a:t>PATCH</a:t>
            </a:r>
            <a:r>
              <a:rPr sz="1800" spc="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заголовками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Content-</a:t>
            </a:r>
            <a:r>
              <a:rPr sz="1800" spc="-20" dirty="0">
                <a:latin typeface="Tahoma"/>
                <a:cs typeface="Tahoma"/>
              </a:rPr>
              <a:t>Type </a:t>
            </a:r>
            <a:r>
              <a:rPr sz="1800" dirty="0">
                <a:latin typeface="Tahoma"/>
                <a:cs typeface="Tahoma"/>
              </a:rPr>
              <a:t>и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API-</a:t>
            </a:r>
            <a:r>
              <a:rPr sz="1800" spc="30" dirty="0">
                <a:latin typeface="Tahoma"/>
                <a:cs typeface="Tahoma"/>
              </a:rPr>
              <a:t>Key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2587" y="2313431"/>
            <a:ext cx="7972500" cy="216408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55" dirty="0"/>
              <a:t> </a:t>
            </a:r>
            <a:r>
              <a:rPr spc="245" dirty="0"/>
              <a:t>CORS</a:t>
            </a:r>
            <a:r>
              <a:rPr spc="-40" dirty="0"/>
              <a:t> </a:t>
            </a:r>
            <a:r>
              <a:rPr dirty="0"/>
              <a:t>(ответ</a:t>
            </a:r>
            <a:r>
              <a:rPr spc="-50" dirty="0"/>
              <a:t> </a:t>
            </a:r>
            <a:r>
              <a:rPr dirty="0"/>
              <a:t>сервиса</a:t>
            </a:r>
            <a:r>
              <a:rPr spc="-55" dirty="0"/>
              <a:t> </a:t>
            </a:r>
            <a:r>
              <a:rPr dirty="0"/>
              <a:t>на</a:t>
            </a:r>
            <a:r>
              <a:rPr spc="-60" dirty="0"/>
              <a:t> </a:t>
            </a:r>
            <a:r>
              <a:rPr spc="-10" dirty="0"/>
              <a:t>предзапрос)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990344"/>
            <a:ext cx="8839200" cy="1612391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110" dirty="0"/>
              <a:t> </a:t>
            </a:r>
            <a:r>
              <a:rPr spc="245" dirty="0"/>
              <a:t>CORS</a:t>
            </a:r>
            <a:r>
              <a:rPr spc="-90" dirty="0"/>
              <a:t> </a:t>
            </a:r>
            <a:r>
              <a:rPr dirty="0"/>
              <a:t>(запрос</a:t>
            </a:r>
            <a:r>
              <a:rPr spc="-105" dirty="0"/>
              <a:t> </a:t>
            </a:r>
            <a:r>
              <a:rPr spc="-10" dirty="0"/>
              <a:t>сервиса)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944" y="1408175"/>
            <a:ext cx="6992111" cy="287731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130" dirty="0"/>
              <a:t> </a:t>
            </a:r>
            <a:r>
              <a:rPr spc="245" dirty="0"/>
              <a:t>CORS</a:t>
            </a:r>
            <a:r>
              <a:rPr spc="-120" dirty="0"/>
              <a:t> </a:t>
            </a:r>
            <a:r>
              <a:rPr dirty="0"/>
              <a:t>(ответ</a:t>
            </a:r>
            <a:r>
              <a:rPr spc="-130" dirty="0"/>
              <a:t> </a:t>
            </a:r>
            <a:r>
              <a:rPr spc="-10" dirty="0"/>
              <a:t>сервиса)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334" y="2142744"/>
            <a:ext cx="8831265" cy="171297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40" dirty="0"/>
              <a:t> </a:t>
            </a:r>
            <a:r>
              <a:rPr dirty="0"/>
              <a:t>(дополнительные</a:t>
            </a:r>
            <a:r>
              <a:rPr spc="-45" dirty="0"/>
              <a:t> </a:t>
            </a:r>
            <a:r>
              <a:rPr spc="-10" dirty="0"/>
              <a:t>заголовки)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332" y="1673351"/>
            <a:ext cx="7689291" cy="179527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45" dirty="0"/>
              <a:t>CORS</a:t>
            </a:r>
            <a:r>
              <a:rPr spc="-60" dirty="0"/>
              <a:t> </a:t>
            </a:r>
            <a:r>
              <a:rPr dirty="0"/>
              <a:t>(данные</a:t>
            </a:r>
            <a:r>
              <a:rPr spc="-70" dirty="0"/>
              <a:t> </a:t>
            </a:r>
            <a:r>
              <a:rPr spc="-10" dirty="0"/>
              <a:t>авторизации)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247" y="1606295"/>
            <a:ext cx="8270936" cy="1932431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007" y="1881693"/>
            <a:ext cx="4968240" cy="128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7210" marR="5080" indent="-524510">
              <a:lnSpc>
                <a:spcPct val="115100"/>
              </a:lnSpc>
              <a:spcBef>
                <a:spcPts val="100"/>
              </a:spcBef>
            </a:pPr>
            <a:r>
              <a:rPr sz="3600" spc="-25" dirty="0"/>
              <a:t>Как</a:t>
            </a:r>
            <a:r>
              <a:rPr sz="3600" spc="-165" dirty="0"/>
              <a:t> </a:t>
            </a:r>
            <a:r>
              <a:rPr sz="3600" spc="85" dirty="0"/>
              <a:t>еще</a:t>
            </a:r>
            <a:r>
              <a:rPr sz="3600" spc="-175" dirty="0"/>
              <a:t> </a:t>
            </a:r>
            <a:r>
              <a:rPr sz="3600" dirty="0"/>
              <a:t>можно</a:t>
            </a:r>
            <a:r>
              <a:rPr sz="3600" spc="-170" dirty="0"/>
              <a:t> </a:t>
            </a:r>
            <a:r>
              <a:rPr sz="3600" spc="-10" dirty="0"/>
              <a:t>решить </a:t>
            </a:r>
            <a:r>
              <a:rPr sz="3600" dirty="0"/>
              <a:t>проблему</a:t>
            </a:r>
            <a:r>
              <a:rPr sz="3600" spc="190" dirty="0"/>
              <a:t> </a:t>
            </a:r>
            <a:r>
              <a:rPr sz="3600" spc="-10" dirty="0"/>
              <a:t>корсов?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4157</Words>
  <Application>Microsoft Office PowerPoint</Application>
  <PresentationFormat>Произвольный</PresentationFormat>
  <Paragraphs>778</Paragraphs>
  <Slides>120</Slides>
  <Notes>52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120</vt:i4>
      </vt:variant>
    </vt:vector>
  </HeadingPairs>
  <TitlesOfParts>
    <vt:vector size="127" baseType="lpstr">
      <vt:lpstr>Arial</vt:lpstr>
      <vt:lpstr>Calibri</vt:lpstr>
      <vt:lpstr>Courier New</vt:lpstr>
      <vt:lpstr>Roboto</vt:lpstr>
      <vt:lpstr>Tahoma</vt:lpstr>
      <vt:lpstr>Times New Roman</vt:lpstr>
      <vt:lpstr>Office Theme</vt:lpstr>
      <vt:lpstr>Презентация PowerPoint</vt:lpstr>
      <vt:lpstr>Повторение - мать учения</vt:lpstr>
      <vt:lpstr>Базовый сценарий работы web-приложения</vt:lpstr>
      <vt:lpstr>URL - unified resource locator</vt:lpstr>
      <vt:lpstr>Документы</vt:lpstr>
      <vt:lpstr>Документы</vt:lpstr>
      <vt:lpstr>Ресурсы</vt:lpstr>
      <vt:lpstr>Ресурсы</vt:lpstr>
      <vt:lpstr>Протоколы</vt:lpstr>
      <vt:lpstr>HTTP - HyperText Transfer Protocol</vt:lpstr>
      <vt:lpstr>Структура HTTP-запроса</vt:lpstr>
      <vt:lpstr>Структура HTTP-ответа</vt:lpstr>
      <vt:lpstr>Пример HTTP-запроса</vt:lpstr>
      <vt:lpstr>Пример HTTP-ответа</vt:lpstr>
      <vt:lpstr>“Пользователь вводит ссылку в браузер…”</vt:lpstr>
      <vt:lpstr>Ну, вводи уже</vt:lpstr>
      <vt:lpstr>Поиск сервера</vt:lpstr>
      <vt:lpstr>Оптимизация поиска</vt:lpstr>
      <vt:lpstr>DNS-сервер</vt:lpstr>
      <vt:lpstr>Устанавливается соединение</vt:lpstr>
      <vt:lpstr>Тройное рукопожатие</vt:lpstr>
      <vt:lpstr>Остальные шаги</vt:lpstr>
      <vt:lpstr>Как происходит рендер (кратко)</vt:lpstr>
      <vt:lpstr>Критические этапы рендера</vt:lpstr>
      <vt:lpstr>Критические этапы рендера</vt:lpstr>
      <vt:lpstr>Критические этапы рендера (базово)</vt:lpstr>
      <vt:lpstr>Document Object Model</vt:lpstr>
      <vt:lpstr>CSS Object Model</vt:lpstr>
      <vt:lpstr>Дерево рендера (Render Tree)</vt:lpstr>
      <vt:lpstr>Компоновка (layout)</vt:lpstr>
      <vt:lpstr>Отрисовка (paint)</vt:lpstr>
      <vt:lpstr>Клиент-серверная модель Подробнее тут: https://habr.com/ru/post/495698/</vt:lpstr>
      <vt:lpstr>Клиент-сервер</vt:lpstr>
      <vt:lpstr>Клиент-сервер</vt:lpstr>
      <vt:lpstr>История веб-приложения Подробнее тут: нигде</vt:lpstr>
      <vt:lpstr>Статические веб-страницы</vt:lpstr>
      <vt:lpstr>Статические веб-страницы</vt:lpstr>
      <vt:lpstr>Динамические веб-сервисы</vt:lpstr>
      <vt:lpstr>Динамические веб-сервисы</vt:lpstr>
      <vt:lpstr>Веб-приложения</vt:lpstr>
      <vt:lpstr>Динамические веб-сервисы</vt:lpstr>
      <vt:lpstr>Презентация PowerPoint</vt:lpstr>
      <vt:lpstr>Node &amp;&amp; Npm Подробнее тут https://nodejs.dev/</vt:lpstr>
      <vt:lpstr>Что находится внутри браузера?</vt:lpstr>
      <vt:lpstr>Что находится внутри браузера?</vt:lpstr>
      <vt:lpstr>Что находится внутри браузера?</vt:lpstr>
      <vt:lpstr>Ограничения JS в браузере</vt:lpstr>
      <vt:lpstr>Node.js</vt:lpstr>
      <vt:lpstr>Презентация PowerPoint</vt:lpstr>
      <vt:lpstr>Как подключить библиотеки</vt:lpstr>
      <vt:lpstr>Npm (как работает)</vt:lpstr>
      <vt:lpstr>Презентация PowerPoint</vt:lpstr>
      <vt:lpstr>Npm (создаем свой модуль)</vt:lpstr>
      <vt:lpstr>Npm (создаем свой модуль)</vt:lpstr>
      <vt:lpstr>Работа с сетью Подробнее тут https://developer.mozilla.org/ru/docs/Web/Guide/AJAX</vt:lpstr>
      <vt:lpstr>Протокол HTTP</vt:lpstr>
      <vt:lpstr>Ajax</vt:lpstr>
      <vt:lpstr>Что передаем по сети</vt:lpstr>
      <vt:lpstr>Презентация PowerPoint</vt:lpstr>
      <vt:lpstr>Blob</vt:lpstr>
      <vt:lpstr>FormData</vt:lpstr>
      <vt:lpstr>XMLHttpRequest</vt:lpstr>
      <vt:lpstr>XMLHttpRequest</vt:lpstr>
      <vt:lpstr>1. XMLHttpRequest (создаем)</vt:lpstr>
      <vt:lpstr>2. XMLHttpRequest (инициализируем)</vt:lpstr>
      <vt:lpstr>3. XMLHttpRequest (посылаем запрос)</vt:lpstr>
      <vt:lpstr>4. XMLHttpRequest (слушаем ответ)</vt:lpstr>
      <vt:lpstr>XMLHttpRequest (слушаем ответ)</vt:lpstr>
      <vt:lpstr>XMLHttpRequest (асинхронный запрос)</vt:lpstr>
      <vt:lpstr>XMLHttpRequest (синхронный запрос)</vt:lpstr>
      <vt:lpstr>XMLHttpRequest (тип ответа)</vt:lpstr>
      <vt:lpstr>XMLHttpRequest (состояние запроса)</vt:lpstr>
      <vt:lpstr>XMLHttpRequest (отмена запроса)</vt:lpstr>
      <vt:lpstr>XMLHttpRequest (HTTP-заголовки)</vt:lpstr>
      <vt:lpstr>XMLHttpRequest (POST-запрос)</vt:lpstr>
      <vt:lpstr>XMLHttpRequest (POST-запрос)</vt:lpstr>
      <vt:lpstr>XMLHttpRequest (прогресс отправки)</vt:lpstr>
      <vt:lpstr>Cookie Подробнее тут https://learn.javascript.ru/cookie</vt:lpstr>
      <vt:lpstr>Презентация PowerPoint</vt:lpstr>
      <vt:lpstr>HTTP is a stateless protocol</vt:lpstr>
      <vt:lpstr>Cookie</vt:lpstr>
      <vt:lpstr>Cookie (спецификация)</vt:lpstr>
      <vt:lpstr>1. Cookie (клиент -&gt; сервер)</vt:lpstr>
      <vt:lpstr>2. Cookie (клиент &lt;- сервер)</vt:lpstr>
      <vt:lpstr>3. Cookie (клиент -&gt; сервер)</vt:lpstr>
      <vt:lpstr>4. Cookie (клиент -&gt; сервер)</vt:lpstr>
      <vt:lpstr>5. Cookie (клиент -&gt; сервер)</vt:lpstr>
      <vt:lpstr>Cookie (использование)</vt:lpstr>
      <vt:lpstr>Cookie (параметры)</vt:lpstr>
      <vt:lpstr>Cookie (JavaScript)</vt:lpstr>
      <vt:lpstr>Cookie (XHR)</vt:lpstr>
      <vt:lpstr>Same Origin Policy Подробнее тут https://learn.javascript.ru/fetch-crossorigin</vt:lpstr>
      <vt:lpstr>Same Origin Policy</vt:lpstr>
      <vt:lpstr>Same Origin Policy (источник)</vt:lpstr>
      <vt:lpstr>Same Origin Policy (одинаковый источник)</vt:lpstr>
      <vt:lpstr>Same Origin Policy (разные источник)</vt:lpstr>
      <vt:lpstr>Same Origin Policy (типы взаимодействия с ресурсами)</vt:lpstr>
      <vt:lpstr>Same Origin Policy (типы взаимодействия с ресурсами)</vt:lpstr>
      <vt:lpstr>Cookie (samesite)</vt:lpstr>
      <vt:lpstr>Cookie (strict)</vt:lpstr>
      <vt:lpstr>Презентация PowerPoint</vt:lpstr>
      <vt:lpstr>Презентация PowerPoint</vt:lpstr>
      <vt:lpstr>CORS (XHR)</vt:lpstr>
      <vt:lpstr>CORS (браузер)</vt:lpstr>
      <vt:lpstr>CORS (простые запросы)</vt:lpstr>
      <vt:lpstr>CORS (простые запросы)</vt:lpstr>
      <vt:lpstr>1. CORS (запрос сервиса)</vt:lpstr>
      <vt:lpstr>2. CORS (ответ сервиса)</vt:lpstr>
      <vt:lpstr>Презентация PowerPoint</vt:lpstr>
      <vt:lpstr>CORS (непростые запросы)</vt:lpstr>
      <vt:lpstr>CORS (OPTIONS запрос)</vt:lpstr>
      <vt:lpstr>CORS (OPTIONS запрос)</vt:lpstr>
      <vt:lpstr>CORS (непростые запросы)</vt:lpstr>
      <vt:lpstr>Презентация PowerPoint</vt:lpstr>
      <vt:lpstr>2. CORS (ответ сервиса на предзапрос)</vt:lpstr>
      <vt:lpstr>3. CORS (запрос сервиса)</vt:lpstr>
      <vt:lpstr>4. CORS (ответ сервиса)</vt:lpstr>
      <vt:lpstr>CORS (дополнительные заголовки)</vt:lpstr>
      <vt:lpstr>CORS (данные авторизации)</vt:lpstr>
      <vt:lpstr>Как еще можно решить проблему корсов?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Беляев Игорь Сергеевич</cp:lastModifiedBy>
  <cp:revision>2</cp:revision>
  <dcterms:created xsi:type="dcterms:W3CDTF">2025-11-14T06:37:43Z</dcterms:created>
  <dcterms:modified xsi:type="dcterms:W3CDTF">2025-11-14T06:48:19Z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2025-11-14T00:00:00Z</vt:filetime>
  </property>
  <property fmtid="{D5CDD505-2E9C-101B-9397-08002B2CF9AE}" pid="5" name="Producer">
    <vt:lpwstr>www.ilovepdf.com</vt:lpwstr>
  </property>
</Properties>
</file>